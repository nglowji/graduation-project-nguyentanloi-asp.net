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3" r:id="rId7"/>
    <p:sldId id="264" r:id="rId8"/>
    <p:sldId id="262" r:id="rId9"/>
    <p:sldId id="265" r:id="rId10"/>
    <p:sldId id="266" r:id="rId11"/>
    <p:sldId id="267" r:id="rId12"/>
    <p:sldId id="268" r:id="rId13"/>
    <p:sldId id="269" r:id="rId14"/>
    <p:sldId id="270" r:id="rId15"/>
    <p:sldId id="271" r:id="rId16"/>
    <p:sldId id="272" r:id="rId17"/>
    <p:sldId id="273" r:id="rId18"/>
    <p:sldId id="257" r:id="rId19"/>
    <p:sldId id="274" r:id="rId20"/>
  </p:sldIdLst>
  <p:sldSz cx="18288000" cy="10287000"/>
  <p:notesSz cx="6858000" cy="9144000"/>
  <p:embeddedFontLst>
    <p:embeddedFont>
      <p:font typeface="Anton" pitchFamily="2" charset="-93"/>
      <p:regular r:id="rId21"/>
    </p:embeddedFont>
    <p:embeddedFont>
      <p:font typeface="Garet Bold" panose="020B0604020202020204" charset="0"/>
      <p:regular r:id="rId22"/>
    </p:embeddedFont>
    <p:embeddedFont>
      <p:font typeface="Public Sans" panose="020B0604020202020204" charset="-93"/>
      <p:regular r:id="rId23"/>
    </p:embeddedFont>
    <p:embeddedFont>
      <p:font typeface="Public Sans Bold" panose="020B0604020202020204" charset="-93"/>
      <p:regular r:id="rId24"/>
    </p:embeddedFont>
    <p:embeddedFont>
      <p:font typeface="Public Sans Bold Italics" panose="020B0604020202020204" charset="-93"/>
      <p:regular r:id="rId25"/>
    </p:embeddedFont>
    <p:embeddedFont>
      <p:font typeface="Public Sans Italics" panose="020B0604020202020204" charset="-93"/>
      <p:regular r:id="rId26"/>
    </p:embeddedFont>
    <p:embeddedFont>
      <p:font typeface="Public Sans Medium" panose="020B0604020202020204" charset="-93"/>
      <p:regular r:id="rId27"/>
    </p:embeddedFont>
    <p:embeddedFont>
      <p:font typeface="Raleway Bold" panose="020B0604020202020204" charset="-93"/>
      <p:regular r:id="rId28"/>
    </p:embeddedFont>
    <p:embeddedFont>
      <p:font typeface="Saira" panose="020B0604020202020204" charset="-93"/>
      <p:regular r:id="rId29"/>
    </p:embeddedFont>
    <p:embeddedFont>
      <p:font typeface="Saira Bold" panose="020B0604020202020204" charset="-9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3.sv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4.sv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4.sv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1.svg"/><Relationship Id="rId2"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27.svg"/><Relationship Id="rId11" Type="http://schemas.openxmlformats.org/officeDocument/2006/relationships/image" Target="../media/image2.svg"/><Relationship Id="rId5" Type="http://schemas.openxmlformats.org/officeDocument/2006/relationships/image" Target="../media/image26.sv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svg"/><Relationship Id="rId1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sv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sv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8.jpe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0036" y="-256038"/>
            <a:ext cx="4328516" cy="10274279"/>
          </a:xfrm>
          <a:custGeom>
            <a:avLst/>
            <a:gdLst/>
            <a:ahLst/>
            <a:cxnLst/>
            <a:rect l="l" t="t" r="r" b="b"/>
            <a:pathLst>
              <a:path w="4328516" h="10274279">
                <a:moveTo>
                  <a:pt x="0" y="0"/>
                </a:moveTo>
                <a:lnTo>
                  <a:pt x="4328516" y="0"/>
                </a:lnTo>
                <a:lnTo>
                  <a:pt x="4328516" y="10274279"/>
                </a:lnTo>
                <a:lnTo>
                  <a:pt x="0" y="1027427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9457875" y="3501340"/>
            <a:ext cx="9651286" cy="7559332"/>
          </a:xfrm>
          <a:custGeom>
            <a:avLst/>
            <a:gdLst/>
            <a:ahLst/>
            <a:cxnLst/>
            <a:rect l="l" t="t" r="r" b="b"/>
            <a:pathLst>
              <a:path w="9651286" h="7559332">
                <a:moveTo>
                  <a:pt x="0" y="0"/>
                </a:moveTo>
                <a:lnTo>
                  <a:pt x="9651286" y="0"/>
                </a:lnTo>
                <a:lnTo>
                  <a:pt x="9651286" y="7559332"/>
                </a:lnTo>
                <a:lnTo>
                  <a:pt x="0" y="75593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5036196" y="-774216"/>
            <a:ext cx="3251804" cy="3605832"/>
          </a:xfrm>
          <a:custGeom>
            <a:avLst/>
            <a:gdLst/>
            <a:ahLst/>
            <a:cxnLst/>
            <a:rect l="l" t="t" r="r" b="b"/>
            <a:pathLst>
              <a:path w="3251804" h="3605832">
                <a:moveTo>
                  <a:pt x="0" y="0"/>
                </a:moveTo>
                <a:lnTo>
                  <a:pt x="3251804" y="0"/>
                </a:lnTo>
                <a:lnTo>
                  <a:pt x="3251804" y="3605832"/>
                </a:lnTo>
                <a:lnTo>
                  <a:pt x="0" y="3605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5501588">
            <a:off x="2078693" y="6941836"/>
            <a:ext cx="3052704" cy="5246835"/>
          </a:xfrm>
          <a:custGeom>
            <a:avLst/>
            <a:gdLst/>
            <a:ahLst/>
            <a:cxnLst/>
            <a:rect l="l" t="t" r="r" b="b"/>
            <a:pathLst>
              <a:path w="3052704" h="5246835">
                <a:moveTo>
                  <a:pt x="0" y="0"/>
                </a:moveTo>
                <a:lnTo>
                  <a:pt x="3052705" y="0"/>
                </a:lnTo>
                <a:lnTo>
                  <a:pt x="3052705" y="5246836"/>
                </a:lnTo>
                <a:lnTo>
                  <a:pt x="0" y="524683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6294470" y="1961867"/>
            <a:ext cx="5699059" cy="1539473"/>
          </a:xfrm>
          <a:prstGeom prst="rect">
            <a:avLst/>
          </a:prstGeom>
        </p:spPr>
        <p:txBody>
          <a:bodyPr lIns="0" tIns="0" rIns="0" bIns="0" rtlCol="0" anchor="t">
            <a:spAutoFit/>
          </a:bodyPr>
          <a:lstStyle/>
          <a:p>
            <a:pPr marL="0" lvl="0" indent="0" algn="ctr">
              <a:lnSpc>
                <a:spcPts val="6197"/>
              </a:lnSpc>
            </a:pPr>
            <a:r>
              <a:rPr lang="en-US" sz="4426" b="1" dirty="0">
                <a:solidFill>
                  <a:srgbClr val="1250A1"/>
                </a:solidFill>
                <a:latin typeface="Times New Roman" panose="02020603050405020304" pitchFamily="18" charset="0"/>
                <a:ea typeface="Garet Bold"/>
                <a:cs typeface="Times New Roman" panose="02020603050405020304" pitchFamily="18" charset="0"/>
                <a:sym typeface="Garet Bold"/>
              </a:rPr>
              <a:t>BÀI THUYẾT TRÌNH</a:t>
            </a:r>
          </a:p>
          <a:p>
            <a:pPr marL="0" lvl="0" indent="0" algn="ctr">
              <a:lnSpc>
                <a:spcPts val="6197"/>
              </a:lnSpc>
            </a:pPr>
            <a:r>
              <a:rPr lang="en-US" sz="4426" b="1" dirty="0">
                <a:solidFill>
                  <a:srgbClr val="1250A1"/>
                </a:solidFill>
                <a:latin typeface="Times New Roman" panose="02020603050405020304" pitchFamily="18" charset="0"/>
                <a:ea typeface="Garet Bold"/>
                <a:cs typeface="Times New Roman" panose="02020603050405020304" pitchFamily="18" charset="0"/>
                <a:sym typeface="Garet Bold"/>
              </a:rPr>
              <a:t>ĐỒ ÁN TỐT NGHIỆP</a:t>
            </a:r>
          </a:p>
        </p:txBody>
      </p:sp>
      <p:sp>
        <p:nvSpPr>
          <p:cNvPr id="7" name="TextBox 7"/>
          <p:cNvSpPr txBox="1"/>
          <p:nvPr/>
        </p:nvSpPr>
        <p:spPr>
          <a:xfrm>
            <a:off x="2520218" y="3527003"/>
            <a:ext cx="13247564" cy="1616497"/>
          </a:xfrm>
          <a:prstGeom prst="rect">
            <a:avLst/>
          </a:prstGeom>
        </p:spPr>
        <p:txBody>
          <a:bodyPr lIns="0" tIns="0" rIns="0" bIns="0" rtlCol="0" anchor="t">
            <a:spAutoFit/>
          </a:bodyPr>
          <a:lstStyle/>
          <a:p>
            <a:pPr algn="ctr">
              <a:lnSpc>
                <a:spcPts val="6451"/>
              </a:lnSpc>
            </a:pPr>
            <a:r>
              <a:rPr lang="en-US" sz="4608" b="1">
                <a:solidFill>
                  <a:srgbClr val="000000"/>
                </a:solidFill>
                <a:latin typeface="Raleway Bold"/>
                <a:ea typeface="Raleway Bold"/>
                <a:cs typeface="Raleway Bold"/>
                <a:sym typeface="Raleway Bold"/>
              </a:rPr>
              <a:t>XÂY DỰNG HỆ THỐNG </a:t>
            </a:r>
          </a:p>
          <a:p>
            <a:pPr marL="0" lvl="0" indent="0" algn="ctr">
              <a:lnSpc>
                <a:spcPts val="6451"/>
              </a:lnSpc>
            </a:pPr>
            <a:r>
              <a:rPr lang="en-US" sz="4608" b="1">
                <a:solidFill>
                  <a:srgbClr val="000000"/>
                </a:solidFill>
                <a:latin typeface="Raleway Bold"/>
                <a:ea typeface="Raleway Bold"/>
                <a:cs typeface="Raleway Bold"/>
                <a:sym typeface="Raleway Bold"/>
              </a:rPr>
              <a:t>QUẢN LÝ VÀ ĐẶT SÂN THỂ THAO TRỰC TUYẾN</a:t>
            </a:r>
          </a:p>
        </p:txBody>
      </p:sp>
      <p:grpSp>
        <p:nvGrpSpPr>
          <p:cNvPr id="8" name="Group 8"/>
          <p:cNvGrpSpPr/>
          <p:nvPr/>
        </p:nvGrpSpPr>
        <p:grpSpPr>
          <a:xfrm>
            <a:off x="6819432" y="221902"/>
            <a:ext cx="4649136" cy="1470846"/>
            <a:chOff x="0" y="0"/>
            <a:chExt cx="6198849" cy="1961128"/>
          </a:xfrm>
        </p:grpSpPr>
        <p:sp>
          <p:nvSpPr>
            <p:cNvPr id="9" name="Freeform 9"/>
            <p:cNvSpPr/>
            <p:nvPr/>
          </p:nvSpPr>
          <p:spPr>
            <a:xfrm>
              <a:off x="0" y="0"/>
              <a:ext cx="1961128" cy="1961128"/>
            </a:xfrm>
            <a:custGeom>
              <a:avLst/>
              <a:gdLst/>
              <a:ahLst/>
              <a:cxnLst/>
              <a:rect l="l" t="t" r="r" b="b"/>
              <a:pathLst>
                <a:path w="1961128" h="1961128">
                  <a:moveTo>
                    <a:pt x="0" y="0"/>
                  </a:moveTo>
                  <a:lnTo>
                    <a:pt x="1961128" y="0"/>
                  </a:lnTo>
                  <a:lnTo>
                    <a:pt x="1961128" y="1961128"/>
                  </a:lnTo>
                  <a:lnTo>
                    <a:pt x="0" y="1961128"/>
                  </a:lnTo>
                  <a:lnTo>
                    <a:pt x="0" y="0"/>
                  </a:lnTo>
                  <a:close/>
                </a:path>
              </a:pathLst>
            </a:custGeom>
            <a:blipFill>
              <a:blip r:embed="rId6"/>
              <a:stretch>
                <a:fillRect/>
              </a:stretch>
            </a:blipFill>
          </p:spPr>
          <p:txBody>
            <a:bodyPr/>
            <a:lstStyle/>
            <a:p>
              <a:endParaRPr lang="en-US"/>
            </a:p>
          </p:txBody>
        </p:sp>
        <p:sp>
          <p:nvSpPr>
            <p:cNvPr id="10" name="AutoShape 10"/>
            <p:cNvSpPr/>
            <p:nvPr/>
          </p:nvSpPr>
          <p:spPr>
            <a:xfrm flipH="1" flipV="1">
              <a:off x="2278199" y="57"/>
              <a:ext cx="10838" cy="1881712"/>
            </a:xfrm>
            <a:prstGeom prst="line">
              <a:avLst/>
            </a:prstGeom>
            <a:ln w="19786" cap="flat">
              <a:solidFill>
                <a:srgbClr val="D9D9D9"/>
              </a:solidFill>
              <a:prstDash val="solid"/>
              <a:headEnd type="none" w="sm" len="sm"/>
              <a:tailEnd type="none" w="sm" len="sm"/>
            </a:ln>
          </p:spPr>
          <p:txBody>
            <a:bodyPr/>
            <a:lstStyle/>
            <a:p>
              <a:endParaRPr lang="en-US"/>
            </a:p>
          </p:txBody>
        </p:sp>
        <p:sp>
          <p:nvSpPr>
            <p:cNvPr id="11" name="TextBox 11"/>
            <p:cNvSpPr txBox="1"/>
            <p:nvPr/>
          </p:nvSpPr>
          <p:spPr>
            <a:xfrm>
              <a:off x="2505798" y="49523"/>
              <a:ext cx="1622786" cy="1316723"/>
            </a:xfrm>
            <a:prstGeom prst="rect">
              <a:avLst/>
            </a:prstGeom>
          </p:spPr>
          <p:txBody>
            <a:bodyPr lIns="0" tIns="0" rIns="0" bIns="0" rtlCol="0" anchor="t">
              <a:spAutoFit/>
            </a:bodyPr>
            <a:lstStyle/>
            <a:p>
              <a:pPr algn="l">
                <a:lnSpc>
                  <a:spcPts val="7808"/>
                </a:lnSpc>
              </a:pPr>
              <a:r>
                <a:rPr lang="en-US" sz="6507">
                  <a:solidFill>
                    <a:srgbClr val="FF3131"/>
                  </a:solidFill>
                  <a:latin typeface="Anton"/>
                  <a:ea typeface="Anton"/>
                  <a:cs typeface="Anton"/>
                  <a:sym typeface="Anton"/>
                </a:rPr>
                <a:t>CET</a:t>
              </a:r>
            </a:p>
          </p:txBody>
        </p:sp>
        <p:sp>
          <p:nvSpPr>
            <p:cNvPr id="12" name="TextBox 12"/>
            <p:cNvSpPr txBox="1"/>
            <p:nvPr/>
          </p:nvSpPr>
          <p:spPr>
            <a:xfrm>
              <a:off x="2451659" y="1288389"/>
              <a:ext cx="3747189" cy="672739"/>
            </a:xfrm>
            <a:prstGeom prst="rect">
              <a:avLst/>
            </a:prstGeom>
          </p:spPr>
          <p:txBody>
            <a:bodyPr lIns="0" tIns="0" rIns="0" bIns="0" rtlCol="0" anchor="t">
              <a:spAutoFit/>
            </a:bodyPr>
            <a:lstStyle/>
            <a:p>
              <a:pPr algn="l">
                <a:lnSpc>
                  <a:spcPts val="2025"/>
                </a:lnSpc>
              </a:pPr>
              <a:r>
                <a:rPr lang="en-US" sz="1688" b="1">
                  <a:solidFill>
                    <a:srgbClr val="FF3131"/>
                  </a:solidFill>
                  <a:latin typeface="Saira Bold"/>
                  <a:ea typeface="Saira Bold"/>
                  <a:cs typeface="Saira Bold"/>
                  <a:sym typeface="Saira Bold"/>
                </a:rPr>
                <a:t>College of Engineering and Technology</a:t>
              </a:r>
            </a:p>
          </p:txBody>
        </p:sp>
      </p:grpSp>
      <p:grpSp>
        <p:nvGrpSpPr>
          <p:cNvPr id="13" name="Group 13"/>
          <p:cNvGrpSpPr/>
          <p:nvPr/>
        </p:nvGrpSpPr>
        <p:grpSpPr>
          <a:xfrm>
            <a:off x="1774459" y="6168284"/>
            <a:ext cx="14739083" cy="3235398"/>
            <a:chOff x="0" y="-57150"/>
            <a:chExt cx="19652110" cy="4313863"/>
          </a:xfrm>
        </p:grpSpPr>
        <p:sp>
          <p:nvSpPr>
            <p:cNvPr id="14" name="TextBox 14"/>
            <p:cNvSpPr txBox="1"/>
            <p:nvPr/>
          </p:nvSpPr>
          <p:spPr>
            <a:xfrm>
              <a:off x="0" y="-51577"/>
              <a:ext cx="7914637" cy="2181196"/>
            </a:xfrm>
            <a:prstGeom prst="rect">
              <a:avLst/>
            </a:prstGeom>
          </p:spPr>
          <p:txBody>
            <a:bodyPr lIns="0" tIns="0" rIns="0" bIns="0" rtlCol="0" anchor="t">
              <a:spAutoFit/>
            </a:bodyPr>
            <a:lstStyle/>
            <a:p>
              <a:pPr algn="l">
                <a:lnSpc>
                  <a:spcPts val="4347"/>
                </a:lnSpc>
              </a:pPr>
              <a:r>
                <a:rPr lang="en-US" sz="3105" dirty="0" err="1">
                  <a:solidFill>
                    <a:srgbClr val="000000"/>
                  </a:solidFill>
                  <a:latin typeface="Saira"/>
                  <a:ea typeface="Saira"/>
                  <a:cs typeface="Saira"/>
                  <a:sym typeface="Saira"/>
                </a:rPr>
                <a:t>Giảng</a:t>
              </a:r>
              <a:r>
                <a:rPr lang="en-US" sz="3105" dirty="0">
                  <a:solidFill>
                    <a:srgbClr val="000000"/>
                  </a:solidFill>
                  <a:latin typeface="Saira"/>
                  <a:ea typeface="Saira"/>
                  <a:cs typeface="Saira"/>
                  <a:sym typeface="Saira"/>
                </a:rPr>
                <a:t> </a:t>
              </a:r>
              <a:r>
                <a:rPr lang="en-US" sz="3105" dirty="0" err="1">
                  <a:solidFill>
                    <a:srgbClr val="000000"/>
                  </a:solidFill>
                  <a:latin typeface="Saira"/>
                  <a:ea typeface="Saira"/>
                  <a:cs typeface="Saira"/>
                  <a:sym typeface="Saira"/>
                </a:rPr>
                <a:t>viên</a:t>
              </a:r>
              <a:r>
                <a:rPr lang="en-US" sz="3105" dirty="0">
                  <a:solidFill>
                    <a:srgbClr val="000000"/>
                  </a:solidFill>
                  <a:latin typeface="Saira"/>
                  <a:ea typeface="Saira"/>
                  <a:cs typeface="Saira"/>
                  <a:sym typeface="Saira"/>
                </a:rPr>
                <a:t> </a:t>
              </a:r>
              <a:r>
                <a:rPr lang="en-US" sz="3105" dirty="0" err="1">
                  <a:solidFill>
                    <a:srgbClr val="000000"/>
                  </a:solidFill>
                  <a:latin typeface="Saira"/>
                  <a:ea typeface="Saira"/>
                  <a:cs typeface="Saira"/>
                  <a:sym typeface="Saira"/>
                </a:rPr>
                <a:t>hướng</a:t>
              </a:r>
              <a:r>
                <a:rPr lang="en-US" sz="3105" dirty="0">
                  <a:solidFill>
                    <a:srgbClr val="000000"/>
                  </a:solidFill>
                  <a:latin typeface="Saira"/>
                  <a:ea typeface="Saira"/>
                  <a:cs typeface="Saira"/>
                  <a:sym typeface="Saira"/>
                </a:rPr>
                <a:t> </a:t>
              </a:r>
              <a:r>
                <a:rPr lang="en-US" sz="3105" dirty="0" err="1">
                  <a:solidFill>
                    <a:srgbClr val="000000"/>
                  </a:solidFill>
                  <a:latin typeface="Saira"/>
                  <a:ea typeface="Saira"/>
                  <a:cs typeface="Saira"/>
                  <a:sym typeface="Saira"/>
                </a:rPr>
                <a:t>dẫn</a:t>
              </a:r>
              <a:r>
                <a:rPr lang="en-US" sz="3105" dirty="0">
                  <a:solidFill>
                    <a:srgbClr val="000000"/>
                  </a:solidFill>
                  <a:latin typeface="Saira"/>
                  <a:ea typeface="Saira"/>
                  <a:cs typeface="Saira"/>
                  <a:sym typeface="Saira"/>
                </a:rPr>
                <a:t>:</a:t>
              </a:r>
            </a:p>
            <a:p>
              <a:pPr algn="l">
                <a:lnSpc>
                  <a:spcPts val="4347"/>
                </a:lnSpc>
              </a:pPr>
              <a:r>
                <a:rPr lang="en-US" sz="3105" b="1" dirty="0" err="1">
                  <a:solidFill>
                    <a:srgbClr val="000000"/>
                  </a:solidFill>
                  <a:latin typeface="Saira Bold"/>
                  <a:ea typeface="Saira Bold"/>
                  <a:cs typeface="Saira Bold"/>
                  <a:sym typeface="Saira Bold"/>
                </a:rPr>
                <a:t>ThS</a:t>
              </a:r>
              <a:r>
                <a:rPr lang="en-US" sz="3105" b="1" dirty="0">
                  <a:solidFill>
                    <a:srgbClr val="000000"/>
                  </a:solidFill>
                  <a:latin typeface="Saira Bold"/>
                  <a:ea typeface="Saira Bold"/>
                  <a:cs typeface="Saira Bold"/>
                  <a:sym typeface="Saira Bold"/>
                </a:rPr>
                <a:t>. Phạm Thị Trúc Mai</a:t>
              </a:r>
            </a:p>
            <a:p>
              <a:pPr marL="0" lvl="0" indent="0" algn="l">
                <a:lnSpc>
                  <a:spcPts val="4347"/>
                </a:lnSpc>
              </a:pPr>
              <a:endParaRPr lang="en-US" sz="3105" b="1" dirty="0">
                <a:solidFill>
                  <a:srgbClr val="000000"/>
                </a:solidFill>
                <a:latin typeface="Saira Bold"/>
                <a:ea typeface="Saira Bold"/>
                <a:cs typeface="Saira Bold"/>
                <a:sym typeface="Saira Bold"/>
              </a:endParaRPr>
            </a:p>
          </p:txBody>
        </p:sp>
        <p:sp>
          <p:nvSpPr>
            <p:cNvPr id="15" name="TextBox 15"/>
            <p:cNvSpPr txBox="1"/>
            <p:nvPr/>
          </p:nvSpPr>
          <p:spPr>
            <a:xfrm>
              <a:off x="11737473" y="-57150"/>
              <a:ext cx="7914637" cy="4313863"/>
            </a:xfrm>
            <a:prstGeom prst="rect">
              <a:avLst/>
            </a:prstGeom>
          </p:spPr>
          <p:txBody>
            <a:bodyPr lIns="0" tIns="0" rIns="0" bIns="0" rtlCol="0" anchor="t">
              <a:spAutoFit/>
            </a:bodyPr>
            <a:lstStyle/>
            <a:p>
              <a:pPr algn="l">
                <a:lnSpc>
                  <a:spcPts val="4347"/>
                </a:lnSpc>
              </a:pPr>
              <a:r>
                <a:rPr lang="en-US" sz="3105">
                  <a:solidFill>
                    <a:srgbClr val="000000"/>
                  </a:solidFill>
                  <a:latin typeface="Saira"/>
                  <a:ea typeface="Saira"/>
                  <a:cs typeface="Saira"/>
                  <a:sym typeface="Saira"/>
                </a:rPr>
                <a:t>Sinh viên thực hiện:</a:t>
              </a:r>
            </a:p>
            <a:p>
              <a:pPr algn="l">
                <a:lnSpc>
                  <a:spcPts val="4347"/>
                </a:lnSpc>
              </a:pPr>
              <a:r>
                <a:rPr lang="en-US" sz="3105">
                  <a:solidFill>
                    <a:srgbClr val="000000"/>
                  </a:solidFill>
                  <a:latin typeface="Saira"/>
                  <a:ea typeface="Saira"/>
                  <a:cs typeface="Saira"/>
                  <a:sym typeface="Saira"/>
                </a:rPr>
                <a:t>Họ Tên: </a:t>
              </a:r>
              <a:r>
                <a:rPr lang="en-US" sz="3105" b="1">
                  <a:solidFill>
                    <a:srgbClr val="000000"/>
                  </a:solidFill>
                  <a:latin typeface="Saira Bold"/>
                  <a:ea typeface="Saira Bold"/>
                  <a:cs typeface="Saira Bold"/>
                  <a:sym typeface="Saira Bold"/>
                </a:rPr>
                <a:t>Nguyễn Tấn Lợi</a:t>
              </a:r>
            </a:p>
            <a:p>
              <a:pPr algn="l">
                <a:lnSpc>
                  <a:spcPts val="4347"/>
                </a:lnSpc>
              </a:pPr>
              <a:r>
                <a:rPr lang="en-US" sz="3105">
                  <a:solidFill>
                    <a:srgbClr val="000000"/>
                  </a:solidFill>
                  <a:latin typeface="Saira"/>
                  <a:ea typeface="Saira"/>
                  <a:cs typeface="Saira"/>
                  <a:sym typeface="Saira"/>
                </a:rPr>
                <a:t>MSSV:</a:t>
              </a:r>
              <a:r>
                <a:rPr lang="en-US" sz="3105" b="1">
                  <a:solidFill>
                    <a:srgbClr val="000000"/>
                  </a:solidFill>
                  <a:latin typeface="Saira Bold"/>
                  <a:ea typeface="Saira Bold"/>
                  <a:cs typeface="Saira Bold"/>
                  <a:sym typeface="Saira Bold"/>
                </a:rPr>
                <a:t> 110122014</a:t>
              </a:r>
            </a:p>
            <a:p>
              <a:pPr algn="l">
                <a:lnSpc>
                  <a:spcPts val="4347"/>
                </a:lnSpc>
              </a:pPr>
              <a:r>
                <a:rPr lang="en-US" sz="3105">
                  <a:solidFill>
                    <a:srgbClr val="000000"/>
                  </a:solidFill>
                  <a:latin typeface="Saira"/>
                  <a:ea typeface="Saira"/>
                  <a:cs typeface="Saira"/>
                  <a:sym typeface="Saira"/>
                </a:rPr>
                <a:t>Lớp:</a:t>
              </a:r>
              <a:r>
                <a:rPr lang="en-US" sz="3105" b="1">
                  <a:solidFill>
                    <a:srgbClr val="000000"/>
                  </a:solidFill>
                  <a:latin typeface="Saira Bold"/>
                  <a:ea typeface="Saira Bold"/>
                  <a:cs typeface="Saira Bold"/>
                  <a:sym typeface="Saira Bold"/>
                </a:rPr>
                <a:t> DA22TTA</a:t>
              </a:r>
            </a:p>
            <a:p>
              <a:pPr algn="l">
                <a:lnSpc>
                  <a:spcPts val="4347"/>
                </a:lnSpc>
              </a:pPr>
              <a:r>
                <a:rPr lang="en-US" sz="3105">
                  <a:solidFill>
                    <a:srgbClr val="000000"/>
                  </a:solidFill>
                  <a:latin typeface="Saira"/>
                  <a:ea typeface="Saira"/>
                  <a:cs typeface="Saira"/>
                  <a:sym typeface="Saira"/>
                </a:rPr>
                <a:t>Khóa:</a:t>
              </a:r>
              <a:r>
                <a:rPr lang="en-US" sz="3105" b="1">
                  <a:solidFill>
                    <a:srgbClr val="000000"/>
                  </a:solidFill>
                  <a:latin typeface="Saira Bold"/>
                  <a:ea typeface="Saira Bold"/>
                  <a:cs typeface="Saira Bold"/>
                  <a:sym typeface="Saira Bold"/>
                </a:rPr>
                <a:t> 2022</a:t>
              </a:r>
            </a:p>
            <a:p>
              <a:pPr marL="0" lvl="0" indent="0" algn="l">
                <a:lnSpc>
                  <a:spcPts val="4347"/>
                </a:lnSpc>
              </a:pPr>
              <a:endParaRPr lang="en-US" sz="3105" b="1">
                <a:solidFill>
                  <a:srgbClr val="000000"/>
                </a:solidFill>
                <a:latin typeface="Saira Bold"/>
                <a:ea typeface="Saira Bold"/>
                <a:cs typeface="Saira Bold"/>
                <a:sym typeface="Saira 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9144000" y="0"/>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flipV="1">
            <a:off x="2119488" y="4121161"/>
            <a:ext cx="4328516" cy="10274279"/>
          </a:xfrm>
          <a:custGeom>
            <a:avLst/>
            <a:gdLst/>
            <a:ahLst/>
            <a:cxnLst/>
            <a:rect l="l" t="t" r="r" b="b"/>
            <a:pathLst>
              <a:path w="4328516" h="10274279">
                <a:moveTo>
                  <a:pt x="4328516" y="10274278"/>
                </a:moveTo>
                <a:lnTo>
                  <a:pt x="0" y="10274278"/>
                </a:lnTo>
                <a:lnTo>
                  <a:pt x="0" y="0"/>
                </a:lnTo>
                <a:lnTo>
                  <a:pt x="4328516" y="0"/>
                </a:lnTo>
                <a:lnTo>
                  <a:pt x="4328516" y="1027427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501588" flipH="1">
            <a:off x="345223" y="-1418154"/>
            <a:ext cx="3052704" cy="5246835"/>
          </a:xfrm>
          <a:custGeom>
            <a:avLst/>
            <a:gdLst/>
            <a:ahLst/>
            <a:cxnLst/>
            <a:rect l="l" t="t" r="r" b="b"/>
            <a:pathLst>
              <a:path w="3052704" h="5246835">
                <a:moveTo>
                  <a:pt x="3052704" y="0"/>
                </a:moveTo>
                <a:lnTo>
                  <a:pt x="0" y="0"/>
                </a:lnTo>
                <a:lnTo>
                  <a:pt x="0" y="5246836"/>
                </a:lnTo>
                <a:lnTo>
                  <a:pt x="3052704" y="5246836"/>
                </a:lnTo>
                <a:lnTo>
                  <a:pt x="305270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839072" flipV="1">
            <a:off x="13673517" y="8435330"/>
            <a:ext cx="4106193" cy="4553238"/>
          </a:xfrm>
          <a:custGeom>
            <a:avLst/>
            <a:gdLst/>
            <a:ahLst/>
            <a:cxnLst/>
            <a:rect l="l" t="t" r="r" b="b"/>
            <a:pathLst>
              <a:path w="4106193" h="4553238">
                <a:moveTo>
                  <a:pt x="0" y="4553238"/>
                </a:moveTo>
                <a:lnTo>
                  <a:pt x="4106193" y="4553238"/>
                </a:lnTo>
                <a:lnTo>
                  <a:pt x="4106193" y="0"/>
                </a:lnTo>
                <a:lnTo>
                  <a:pt x="0" y="0"/>
                </a:lnTo>
                <a:lnTo>
                  <a:pt x="0" y="4553238"/>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5137139" y="371401"/>
            <a:ext cx="7643016" cy="833863"/>
          </a:xfrm>
          <a:prstGeom prst="rect">
            <a:avLst/>
          </a:prstGeom>
        </p:spPr>
        <p:txBody>
          <a:bodyPr lIns="0" tIns="0" rIns="0" bIns="0" rtlCol="0" anchor="t">
            <a:spAutoFit/>
          </a:bodyPr>
          <a:lstStyle/>
          <a:p>
            <a:pPr marL="0" lvl="0" indent="0" algn="ctr">
              <a:lnSpc>
                <a:spcPts val="6658"/>
              </a:lnSpc>
              <a:spcBef>
                <a:spcPct val="0"/>
              </a:spcBef>
            </a:pPr>
            <a:r>
              <a:rPr lang="en-US" sz="5457" b="1" dirty="0">
                <a:solidFill>
                  <a:srgbClr val="1250A1"/>
                </a:solidFill>
                <a:latin typeface="Times New Roman" panose="02020603050405020304" pitchFamily="18" charset="0"/>
                <a:ea typeface="Garet Bold"/>
                <a:cs typeface="Times New Roman" panose="02020603050405020304" pitchFamily="18" charset="0"/>
                <a:sym typeface="Garet Bold"/>
              </a:rPr>
              <a:t>NỘI DUNG</a:t>
            </a:r>
          </a:p>
        </p:txBody>
      </p:sp>
      <p:sp>
        <p:nvSpPr>
          <p:cNvPr id="7" name="TextBox 7"/>
          <p:cNvSpPr txBox="1"/>
          <p:nvPr/>
        </p:nvSpPr>
        <p:spPr>
          <a:xfrm>
            <a:off x="1545401" y="1470196"/>
            <a:ext cx="9872257" cy="7788104"/>
          </a:xfrm>
          <a:prstGeom prst="rect">
            <a:avLst/>
          </a:prstGeom>
        </p:spPr>
        <p:txBody>
          <a:bodyPr lIns="0" tIns="0" rIns="0" bIns="0" rtlCol="0" anchor="t">
            <a:spAutoFit/>
          </a:bodyPr>
          <a:lstStyle/>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LÝ DO CHỌN ĐỀ TÀI</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MỤC TIÊU</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PHẠM VI NGHIÊN CỨU</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CÔNG NGHỆ SỬ DỤNG</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THIẾT KẾ HỆ THỐNG</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THIẾT KẾ CƠ SỞ DỮ LIỆU</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CHỨC NĂNG CHÍNH</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THIẾT KẾ NGHIỆP VỤ HỆ THỐNG</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GIAO DIỆN HỆ THỐNG</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KẾT QUẢ ĐẠT ĐƯỢC</a:t>
            </a:r>
          </a:p>
          <a:p>
            <a:pPr marL="869516" lvl="1" indent="-434758" algn="just">
              <a:lnSpc>
                <a:spcPts val="5638"/>
              </a:lnSpc>
              <a:buFont typeface="Arial"/>
              <a:buChar char="•"/>
            </a:pPr>
            <a:r>
              <a:rPr lang="en-US" sz="4027" dirty="0">
                <a:solidFill>
                  <a:srgbClr val="000000"/>
                </a:solidFill>
                <a:latin typeface="Public Sans"/>
                <a:ea typeface="Public Sans"/>
                <a:cs typeface="Public Sans"/>
                <a:sym typeface="Public Sans"/>
              </a:rPr>
              <a:t>HẠN CHẾ &amp; HƯỚNG PHÁT TRIỂN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350522" y="-1186689"/>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flipV="1">
            <a:off x="2237198" y="3750714"/>
            <a:ext cx="4328516" cy="10274279"/>
          </a:xfrm>
          <a:custGeom>
            <a:avLst/>
            <a:gdLst/>
            <a:ahLst/>
            <a:cxnLst/>
            <a:rect l="l" t="t" r="r" b="b"/>
            <a:pathLst>
              <a:path w="4328516" h="10274279">
                <a:moveTo>
                  <a:pt x="4328515" y="10274279"/>
                </a:moveTo>
                <a:lnTo>
                  <a:pt x="0" y="10274279"/>
                </a:lnTo>
                <a:lnTo>
                  <a:pt x="0" y="0"/>
                </a:lnTo>
                <a:lnTo>
                  <a:pt x="4328515" y="0"/>
                </a:lnTo>
                <a:lnTo>
                  <a:pt x="4328515" y="10274279"/>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501588" flipH="1">
            <a:off x="2284849" y="-2623418"/>
            <a:ext cx="3052704" cy="5246835"/>
          </a:xfrm>
          <a:custGeom>
            <a:avLst/>
            <a:gdLst/>
            <a:ahLst/>
            <a:cxnLst/>
            <a:rect l="l" t="t" r="r" b="b"/>
            <a:pathLst>
              <a:path w="3052704" h="5246835">
                <a:moveTo>
                  <a:pt x="3052704" y="0"/>
                </a:moveTo>
                <a:lnTo>
                  <a:pt x="0" y="0"/>
                </a:lnTo>
                <a:lnTo>
                  <a:pt x="0" y="5246836"/>
                </a:lnTo>
                <a:lnTo>
                  <a:pt x="3052704" y="5246836"/>
                </a:lnTo>
                <a:lnTo>
                  <a:pt x="305270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839072" flipV="1">
            <a:off x="12259745" y="8775492"/>
            <a:ext cx="4106193" cy="4553238"/>
          </a:xfrm>
          <a:custGeom>
            <a:avLst/>
            <a:gdLst/>
            <a:ahLst/>
            <a:cxnLst/>
            <a:rect l="l" t="t" r="r" b="b"/>
            <a:pathLst>
              <a:path w="4106193" h="4553238">
                <a:moveTo>
                  <a:pt x="0" y="4553238"/>
                </a:moveTo>
                <a:lnTo>
                  <a:pt x="4106193" y="4553238"/>
                </a:lnTo>
                <a:lnTo>
                  <a:pt x="4106193" y="0"/>
                </a:lnTo>
                <a:lnTo>
                  <a:pt x="0" y="0"/>
                </a:lnTo>
                <a:lnTo>
                  <a:pt x="0" y="4553238"/>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6478572" y="447843"/>
            <a:ext cx="5561028" cy="617220"/>
          </a:xfrm>
          <a:prstGeom prst="rect">
            <a:avLst/>
          </a:prstGeom>
        </p:spPr>
        <p:txBody>
          <a:bodyPr wrap="square" lIns="0" tIns="0" rIns="0" bIns="0" rtlCol="0" anchor="t">
            <a:spAutoFit/>
          </a:bodyPr>
          <a:lstStyle/>
          <a:p>
            <a:pPr marL="0" lvl="0" indent="0" algn="ctr">
              <a:lnSpc>
                <a:spcPts val="5143"/>
              </a:lnSpc>
              <a:spcBef>
                <a:spcPct val="0"/>
              </a:spcBef>
            </a:pPr>
            <a:r>
              <a:rPr lang="en-US" sz="4215" b="1" dirty="0">
                <a:solidFill>
                  <a:srgbClr val="1250A1"/>
                </a:solidFill>
                <a:latin typeface="Times New Roman" panose="02020603050405020304" pitchFamily="18" charset="0"/>
                <a:ea typeface="Garet Bold"/>
                <a:cs typeface="Times New Roman" panose="02020603050405020304" pitchFamily="18" charset="0"/>
                <a:sym typeface="Garet Bold"/>
              </a:rPr>
              <a:t>LÝ DO CHỌN ĐỀ TÀI</a:t>
            </a:r>
          </a:p>
        </p:txBody>
      </p:sp>
      <p:sp>
        <p:nvSpPr>
          <p:cNvPr id="7" name="TextBox 7"/>
          <p:cNvSpPr txBox="1"/>
          <p:nvPr/>
        </p:nvSpPr>
        <p:spPr>
          <a:xfrm>
            <a:off x="1143830" y="1747364"/>
            <a:ext cx="15495369" cy="6564554"/>
          </a:xfrm>
          <a:prstGeom prst="rect">
            <a:avLst/>
          </a:prstGeom>
        </p:spPr>
        <p:txBody>
          <a:bodyPr lIns="0" tIns="0" rIns="0" bIns="0" rtlCol="0" anchor="t">
            <a:spAutoFit/>
          </a:bodyPr>
          <a:lstStyle/>
          <a:p>
            <a:pPr marL="623998" lvl="1" indent="-311999" algn="just">
              <a:lnSpc>
                <a:spcPts val="4335"/>
              </a:lnSpc>
              <a:buFont typeface="Arial"/>
              <a:buChar char="•"/>
            </a:pPr>
            <a:r>
              <a:rPr lang="en-US" sz="2890" dirty="0">
                <a:solidFill>
                  <a:srgbClr val="000000"/>
                </a:solidFill>
                <a:latin typeface="Public Sans"/>
                <a:ea typeface="Public Sans"/>
                <a:cs typeface="Public Sans"/>
                <a:sym typeface="Public Sans"/>
              </a:rPr>
              <a:t>Trong xu </a:t>
            </a:r>
            <a:r>
              <a:rPr lang="en-US" sz="2890" dirty="0" err="1">
                <a:solidFill>
                  <a:srgbClr val="000000"/>
                </a:solidFill>
                <a:latin typeface="Public Sans"/>
                <a:ea typeface="Public Sans"/>
                <a:cs typeface="Public Sans"/>
                <a:sym typeface="Public Sans"/>
              </a:rPr>
              <a:t>hướng</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chuyển</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đổi</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số</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người</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dùng</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có</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nhu</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cầu</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tìm</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kiếm</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đặt</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sân</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và</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thanh</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toán</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trực</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tuyến</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nhanh</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chóng</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minh</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bạch</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và</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thuận</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tiện</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hơn</a:t>
            </a:r>
            <a:r>
              <a:rPr lang="en-US" sz="2890" dirty="0">
                <a:solidFill>
                  <a:srgbClr val="000000"/>
                </a:solidFill>
                <a:latin typeface="Public Sans"/>
                <a:ea typeface="Public Sans"/>
                <a:cs typeface="Public Sans"/>
                <a:sym typeface="Public Sans"/>
              </a:rPr>
              <a:t>.</a:t>
            </a:r>
          </a:p>
          <a:p>
            <a:pPr marL="623998" lvl="1" indent="-311999" algn="just">
              <a:lnSpc>
                <a:spcPts val="4335"/>
              </a:lnSpc>
              <a:buFont typeface="Arial"/>
              <a:buChar char="•"/>
            </a:pPr>
            <a:endParaRPr lang="en-US" sz="2890" dirty="0">
              <a:solidFill>
                <a:srgbClr val="000000"/>
              </a:solidFill>
              <a:latin typeface="Public Sans"/>
              <a:ea typeface="Public Sans"/>
              <a:cs typeface="Public Sans"/>
              <a:sym typeface="Public Sans"/>
            </a:endParaRPr>
          </a:p>
          <a:p>
            <a:pPr marL="623998" lvl="1" indent="-311999" algn="just">
              <a:lnSpc>
                <a:spcPts val="4335"/>
              </a:lnSpc>
              <a:buFont typeface="Arial"/>
              <a:buChar char="•"/>
            </a:pPr>
            <a:r>
              <a:rPr lang="en-US" sz="2890" dirty="0">
                <a:solidFill>
                  <a:srgbClr val="000000"/>
                </a:solidFill>
                <a:latin typeface="Public Sans"/>
                <a:ea typeface="Public Sans"/>
                <a:cs typeface="Public Sans"/>
                <a:sym typeface="Public Sans"/>
              </a:rPr>
              <a:t>Phương </a:t>
            </a:r>
            <a:r>
              <a:rPr lang="en-US" sz="2890" dirty="0" err="1">
                <a:solidFill>
                  <a:srgbClr val="000000"/>
                </a:solidFill>
                <a:latin typeface="Public Sans"/>
                <a:ea typeface="Public Sans"/>
                <a:cs typeface="Public Sans"/>
                <a:sym typeface="Public Sans"/>
              </a:rPr>
              <a:t>thức</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quản</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lý</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và</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đặt</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sân</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thủ</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công</a:t>
            </a:r>
            <a:r>
              <a:rPr lang="en-US" sz="2890" dirty="0">
                <a:solidFill>
                  <a:srgbClr val="000000"/>
                </a:solidFill>
                <a:latin typeface="Public Sans"/>
                <a:ea typeface="Public Sans"/>
                <a:cs typeface="Public Sans"/>
                <a:sym typeface="Public Sans"/>
              </a:rPr>
              <a:t> </a:t>
            </a:r>
            <a:r>
              <a:rPr lang="en-US" sz="2890" dirty="0" err="1">
                <a:solidFill>
                  <a:srgbClr val="000000"/>
                </a:solidFill>
                <a:latin typeface="Public Sans"/>
                <a:ea typeface="Public Sans"/>
                <a:cs typeface="Public Sans"/>
                <a:sym typeface="Public Sans"/>
              </a:rPr>
              <a:t>k</a:t>
            </a:r>
            <a:r>
              <a:rPr lang="en-US" sz="2890" u="none" strike="noStrike" dirty="0" err="1">
                <a:solidFill>
                  <a:srgbClr val="000000"/>
                </a:solidFill>
                <a:latin typeface="Public Sans"/>
                <a:ea typeface="Public Sans"/>
                <a:cs typeface="Public Sans"/>
                <a:sym typeface="Public Sans"/>
              </a:rPr>
              <a:t>hông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còn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đáp</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ứng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nhu</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cầu</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vận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hành</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của</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các</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cơ</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sở</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thể</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thao</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khi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số</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lượng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khách</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hàng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và</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lịch</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đặt</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ngày</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càng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tăng</a:t>
            </a:r>
            <a:r>
              <a:rPr lang="en-US" sz="2890" u="none" strike="noStrike" dirty="0">
                <a:solidFill>
                  <a:srgbClr val="000000"/>
                </a:solidFill>
                <a:latin typeface="Public Sans"/>
                <a:ea typeface="Public Sans"/>
                <a:cs typeface="Public Sans"/>
                <a:sym typeface="Public Sans"/>
              </a:rPr>
              <a:t>.</a:t>
            </a:r>
          </a:p>
          <a:p>
            <a:pPr algn="just">
              <a:lnSpc>
                <a:spcPts val="4335"/>
              </a:lnSpc>
            </a:pPr>
            <a:endParaRPr lang="en-US" sz="2890" u="none" strike="noStrike" dirty="0">
              <a:solidFill>
                <a:srgbClr val="000000"/>
              </a:solidFill>
              <a:latin typeface="Public Sans"/>
              <a:ea typeface="Public Sans"/>
              <a:cs typeface="Public Sans"/>
              <a:sym typeface="Public Sans"/>
            </a:endParaRPr>
          </a:p>
          <a:p>
            <a:pPr marL="623998" lvl="1" indent="-311999" algn="just">
              <a:lnSpc>
                <a:spcPts val="4335"/>
              </a:lnSpc>
              <a:buFont typeface="Arial"/>
              <a:buChar char="•"/>
            </a:pPr>
            <a:r>
              <a:rPr lang="en-US" sz="2890" u="none" strike="noStrike" dirty="0" err="1">
                <a:solidFill>
                  <a:srgbClr val="000000"/>
                </a:solidFill>
                <a:latin typeface="Public Sans"/>
                <a:ea typeface="Public Sans"/>
                <a:cs typeface="Public Sans"/>
                <a:sym typeface="Public Sans"/>
              </a:rPr>
              <a:t>Việc</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thiếu</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một</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nền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tảng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quản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lý</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tập</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trung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dẫn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đến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sai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sót</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trong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đặt</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sân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khó</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kiểm</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soát</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doanh</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thu</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đồng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thời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hạn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chế</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khả</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năng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tiếp</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cận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khách</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hàng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của</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chủ</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sân</a:t>
            </a:r>
            <a:r>
              <a:rPr lang="en-US" sz="2890" u="none" strike="noStrike" dirty="0">
                <a:solidFill>
                  <a:srgbClr val="000000"/>
                </a:solidFill>
                <a:latin typeface="Public Sans"/>
                <a:ea typeface="Public Sans"/>
                <a:cs typeface="Public Sans"/>
                <a:sym typeface="Public Sans"/>
              </a:rPr>
              <a:t>.</a:t>
            </a:r>
          </a:p>
          <a:p>
            <a:pPr algn="just">
              <a:lnSpc>
                <a:spcPts val="4335"/>
              </a:lnSpc>
            </a:pPr>
            <a:endParaRPr lang="en-US" sz="2890" u="none" strike="noStrike" dirty="0">
              <a:solidFill>
                <a:srgbClr val="000000"/>
              </a:solidFill>
              <a:latin typeface="Public Sans"/>
              <a:ea typeface="Public Sans"/>
              <a:cs typeface="Public Sans"/>
              <a:sym typeface="Public Sans"/>
            </a:endParaRPr>
          </a:p>
          <a:p>
            <a:pPr marL="623998" lvl="1" indent="-311999" algn="just">
              <a:lnSpc>
                <a:spcPts val="4335"/>
              </a:lnSpc>
              <a:buFont typeface="Arial"/>
              <a:buChar char="•"/>
            </a:pPr>
            <a:r>
              <a:rPr lang="en-US" sz="2890" u="none" strike="noStrike" dirty="0" err="1">
                <a:solidFill>
                  <a:srgbClr val="000000"/>
                </a:solidFill>
                <a:latin typeface="Public Sans"/>
                <a:ea typeface="Public Sans"/>
                <a:cs typeface="Public Sans"/>
                <a:sym typeface="Public Sans"/>
              </a:rPr>
              <a:t>Vì</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vậy</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việc</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xây</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dựng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hệ</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thống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quản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lý</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và</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đặt</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sân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thể</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thao</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trực</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tuyến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là</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cần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thiết</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nhằm</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nâng</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cao</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hiệu</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quả</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quản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lý</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tối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ưu</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khai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thác</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sân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bãi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và</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cải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thiện</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trải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nghiệm</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người</a:t>
            </a:r>
            <a:r>
              <a:rPr lang="en-US" sz="2890" u="none" strike="noStrike" dirty="0">
                <a:solidFill>
                  <a:srgbClr val="000000"/>
                </a:solidFill>
                <a:latin typeface="Public Sans"/>
                <a:ea typeface="Public Sans"/>
                <a:cs typeface="Public Sans"/>
                <a:sym typeface="Public Sans"/>
              </a:rPr>
              <a:t> </a:t>
            </a:r>
            <a:r>
              <a:rPr lang="en-US" sz="2890" u="none" strike="noStrike" dirty="0" err="1">
                <a:solidFill>
                  <a:srgbClr val="000000"/>
                </a:solidFill>
                <a:latin typeface="Public Sans"/>
                <a:ea typeface="Public Sans"/>
                <a:cs typeface="Public Sans"/>
                <a:sym typeface="Public Sans"/>
              </a:rPr>
              <a:t>dùng</a:t>
            </a:r>
            <a:r>
              <a:rPr lang="en-US" sz="2890" u="none" strike="noStrike" dirty="0">
                <a:solidFill>
                  <a:srgbClr val="000000"/>
                </a:solidFill>
                <a:latin typeface="Public Sans"/>
                <a:ea typeface="Public Sans"/>
                <a:cs typeface="Public Sans"/>
                <a:sym typeface="Public Sans"/>
              </a:rPr>
              <a:t>.</a:t>
            </a:r>
          </a:p>
          <a:p>
            <a:pPr marL="0" lvl="0" indent="0" algn="just">
              <a:lnSpc>
                <a:spcPts val="4335"/>
              </a:lnSpc>
            </a:pPr>
            <a:endParaRPr lang="en-US" sz="2890" u="none" strike="noStrike" dirty="0">
              <a:solidFill>
                <a:srgbClr val="000000"/>
              </a:solidFill>
              <a:latin typeface="Public Sans"/>
              <a:ea typeface="Public Sans"/>
              <a:cs typeface="Public Sans"/>
              <a:sym typeface="Public Sans"/>
            </a:endParaRPr>
          </a:p>
        </p:txBody>
      </p:sp>
      <p:sp>
        <p:nvSpPr>
          <p:cNvPr id="8" name="TextBox 8"/>
          <p:cNvSpPr txBox="1"/>
          <p:nvPr/>
        </p:nvSpPr>
        <p:spPr>
          <a:xfrm>
            <a:off x="16260362" y="8859278"/>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2655687" y="-765135"/>
            <a:ext cx="6376063" cy="4995514"/>
          </a:xfrm>
          <a:custGeom>
            <a:avLst/>
            <a:gdLst/>
            <a:ahLst/>
            <a:cxnLst/>
            <a:rect l="l" t="t" r="r" b="b"/>
            <a:pathLst>
              <a:path w="6376063" h="4995514">
                <a:moveTo>
                  <a:pt x="0" y="0"/>
                </a:moveTo>
                <a:lnTo>
                  <a:pt x="6376062" y="0"/>
                </a:lnTo>
                <a:lnTo>
                  <a:pt x="6376062" y="4995514"/>
                </a:lnTo>
                <a:lnTo>
                  <a:pt x="0" y="4995514"/>
                </a:lnTo>
                <a:lnTo>
                  <a:pt x="0" y="0"/>
                </a:lnTo>
                <a:close/>
              </a:path>
            </a:pathLst>
          </a:custGeom>
          <a:blipFill>
            <a:blip r:embed="rId2"/>
            <a:stretch>
              <a:fillRect/>
            </a:stretch>
          </a:blipFill>
        </p:spPr>
        <p:txBody>
          <a:bodyPr/>
          <a:lstStyle/>
          <a:p>
            <a:endParaRPr lang="en-US"/>
          </a:p>
        </p:txBody>
      </p:sp>
      <p:sp>
        <p:nvSpPr>
          <p:cNvPr id="3" name="Freeform 3"/>
          <p:cNvSpPr/>
          <p:nvPr/>
        </p:nvSpPr>
        <p:spPr>
          <a:xfrm rot="5461344">
            <a:off x="15373160" y="7594182"/>
            <a:ext cx="5487244" cy="4299142"/>
          </a:xfrm>
          <a:custGeom>
            <a:avLst/>
            <a:gdLst/>
            <a:ahLst/>
            <a:cxnLst/>
            <a:rect l="l" t="t" r="r" b="b"/>
            <a:pathLst>
              <a:path w="5487244" h="4299142">
                <a:moveTo>
                  <a:pt x="0" y="0"/>
                </a:moveTo>
                <a:lnTo>
                  <a:pt x="5487244" y="0"/>
                </a:lnTo>
                <a:lnTo>
                  <a:pt x="5487244" y="4299142"/>
                </a:lnTo>
                <a:lnTo>
                  <a:pt x="0" y="4299142"/>
                </a:lnTo>
                <a:lnTo>
                  <a:pt x="0" y="0"/>
                </a:lnTo>
                <a:close/>
              </a:path>
            </a:pathLst>
          </a:custGeom>
          <a:blipFill>
            <a:blip r:embed="rId3"/>
            <a:stretch>
              <a:fillRect/>
            </a:stretch>
          </a:blipFill>
        </p:spPr>
        <p:txBody>
          <a:bodyPr/>
          <a:lstStyle/>
          <a:p>
            <a:endParaRPr lang="en-US"/>
          </a:p>
        </p:txBody>
      </p:sp>
      <p:sp>
        <p:nvSpPr>
          <p:cNvPr id="4" name="Freeform 4"/>
          <p:cNvSpPr/>
          <p:nvPr/>
        </p:nvSpPr>
        <p:spPr>
          <a:xfrm rot="-10321024">
            <a:off x="14652058" y="-2181353"/>
            <a:ext cx="4446069" cy="4362705"/>
          </a:xfrm>
          <a:custGeom>
            <a:avLst/>
            <a:gdLst/>
            <a:ahLst/>
            <a:cxnLst/>
            <a:rect l="l" t="t" r="r" b="b"/>
            <a:pathLst>
              <a:path w="4446069" h="4362705">
                <a:moveTo>
                  <a:pt x="0" y="0"/>
                </a:moveTo>
                <a:lnTo>
                  <a:pt x="4446069" y="0"/>
                </a:lnTo>
                <a:lnTo>
                  <a:pt x="4446069" y="4362706"/>
                </a:lnTo>
                <a:lnTo>
                  <a:pt x="0" y="4362706"/>
                </a:lnTo>
                <a:lnTo>
                  <a:pt x="0" y="0"/>
                </a:lnTo>
                <a:close/>
              </a:path>
            </a:pathLst>
          </a:custGeom>
          <a:blipFill>
            <a:blip r:embed="rId4"/>
            <a:stretch>
              <a:fillRect/>
            </a:stretch>
          </a:blipFill>
        </p:spPr>
        <p:txBody>
          <a:bodyPr/>
          <a:lstStyle/>
          <a:p>
            <a:endParaRPr lang="en-US"/>
          </a:p>
        </p:txBody>
      </p:sp>
      <p:sp>
        <p:nvSpPr>
          <p:cNvPr id="5" name="Freeform 5"/>
          <p:cNvSpPr/>
          <p:nvPr/>
        </p:nvSpPr>
        <p:spPr>
          <a:xfrm rot="-5501588">
            <a:off x="1357524" y="8497162"/>
            <a:ext cx="3740430" cy="5238561"/>
          </a:xfrm>
          <a:custGeom>
            <a:avLst/>
            <a:gdLst/>
            <a:ahLst/>
            <a:cxnLst/>
            <a:rect l="l" t="t" r="r" b="b"/>
            <a:pathLst>
              <a:path w="3740430" h="5238561">
                <a:moveTo>
                  <a:pt x="0" y="0"/>
                </a:moveTo>
                <a:lnTo>
                  <a:pt x="3740431" y="0"/>
                </a:lnTo>
                <a:lnTo>
                  <a:pt x="3740431" y="5238561"/>
                </a:lnTo>
                <a:lnTo>
                  <a:pt x="0" y="5238561"/>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3275446" y="346395"/>
            <a:ext cx="11737109" cy="777649"/>
          </a:xfrm>
          <a:prstGeom prst="rect">
            <a:avLst/>
          </a:prstGeom>
        </p:spPr>
        <p:txBody>
          <a:bodyPr lIns="0" tIns="0" rIns="0" bIns="0" rtlCol="0" anchor="t">
            <a:spAutoFit/>
          </a:bodyPr>
          <a:lstStyle/>
          <a:p>
            <a:pPr marL="0" lvl="0" indent="0" algn="ctr">
              <a:lnSpc>
                <a:spcPts val="6208"/>
              </a:lnSpc>
              <a:spcBef>
                <a:spcPct val="0"/>
              </a:spcBef>
            </a:pPr>
            <a:r>
              <a:rPr lang="en-US" sz="5089" b="1" u="none" strike="noStrike" dirty="0">
                <a:solidFill>
                  <a:srgbClr val="1250A1"/>
                </a:solidFill>
                <a:latin typeface="Times New Roman" panose="02020603050405020304" pitchFamily="18" charset="0"/>
                <a:ea typeface="Garet Bold"/>
                <a:cs typeface="Times New Roman" panose="02020603050405020304" pitchFamily="18" charset="0"/>
                <a:sym typeface="Garet Bold"/>
              </a:rPr>
              <a:t>MỤC TIÊU &amp; PHẠM VI NGHIÊN CỨU</a:t>
            </a:r>
          </a:p>
        </p:txBody>
      </p:sp>
      <p:sp>
        <p:nvSpPr>
          <p:cNvPr id="7" name="TextBox 7"/>
          <p:cNvSpPr txBox="1"/>
          <p:nvPr/>
        </p:nvSpPr>
        <p:spPr>
          <a:xfrm>
            <a:off x="1080318" y="1679568"/>
            <a:ext cx="15037102" cy="2578847"/>
          </a:xfrm>
          <a:prstGeom prst="rect">
            <a:avLst/>
          </a:prstGeom>
        </p:spPr>
        <p:txBody>
          <a:bodyPr wrap="square" lIns="0" tIns="0" rIns="0" bIns="0" rtlCol="0" anchor="t">
            <a:spAutoFit/>
          </a:bodyPr>
          <a:lstStyle/>
          <a:p>
            <a:pPr algn="l">
              <a:lnSpc>
                <a:spcPts val="4144"/>
              </a:lnSpc>
            </a:pPr>
            <a:r>
              <a:rPr lang="en-US" sz="2762" b="1" dirty="0">
                <a:solidFill>
                  <a:srgbClr val="000000"/>
                </a:solidFill>
                <a:latin typeface="Public Sans Bold"/>
                <a:ea typeface="Public Sans Bold"/>
                <a:cs typeface="Public Sans Bold"/>
                <a:sym typeface="Public Sans Bold"/>
              </a:rPr>
              <a:t>MỤC TIÊU:</a:t>
            </a:r>
          </a:p>
          <a:p>
            <a:pPr marL="596498" lvl="1" indent="-298249" algn="l">
              <a:lnSpc>
                <a:spcPts val="4144"/>
              </a:lnSpc>
              <a:buFont typeface="Arial"/>
              <a:buChar char="•"/>
            </a:pPr>
            <a:r>
              <a:rPr lang="en-US" sz="2762" dirty="0" err="1">
                <a:solidFill>
                  <a:srgbClr val="000000"/>
                </a:solidFill>
                <a:latin typeface="Public Sans Medium"/>
                <a:ea typeface="Public Sans Medium"/>
                <a:cs typeface="Public Sans Medium"/>
                <a:sym typeface="Public Sans Medium"/>
              </a:rPr>
              <a:t>Xây</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dựng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hệ</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thống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quản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lý</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và</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đặt</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sân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thể</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thao</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trực</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tuyến</a:t>
            </a:r>
            <a:r>
              <a:rPr lang="en-US" sz="2762" dirty="0">
                <a:solidFill>
                  <a:srgbClr val="000000"/>
                </a:solidFill>
                <a:latin typeface="Public Sans Medium"/>
                <a:ea typeface="Public Sans Medium"/>
                <a:cs typeface="Public Sans Medium"/>
                <a:sym typeface="Public Sans Medium"/>
              </a:rPr>
              <a:t>.</a:t>
            </a:r>
          </a:p>
          <a:p>
            <a:pPr marL="596498" lvl="1" indent="-298249" algn="l">
              <a:lnSpc>
                <a:spcPts val="4144"/>
              </a:lnSpc>
              <a:buFont typeface="Arial"/>
              <a:buChar char="•"/>
            </a:pPr>
            <a:r>
              <a:rPr lang="en-US" sz="2762" dirty="0" err="1">
                <a:solidFill>
                  <a:srgbClr val="000000"/>
                </a:solidFill>
                <a:latin typeface="Public Sans Medium"/>
                <a:ea typeface="Public Sans Medium"/>
                <a:cs typeface="Public Sans Medium"/>
                <a:sym typeface="Public Sans Medium"/>
              </a:rPr>
              <a:t>Hỗ</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trợ</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người</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dùng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tìm</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kiếm</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đặt</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sân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thanh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toán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và</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đánh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giá</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thuận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tiện</a:t>
            </a:r>
            <a:r>
              <a:rPr lang="en-US" sz="2762" dirty="0">
                <a:solidFill>
                  <a:srgbClr val="000000"/>
                </a:solidFill>
                <a:latin typeface="Public Sans Medium"/>
                <a:ea typeface="Public Sans Medium"/>
                <a:cs typeface="Public Sans Medium"/>
                <a:sym typeface="Public Sans Medium"/>
              </a:rPr>
              <a:t>.</a:t>
            </a:r>
          </a:p>
          <a:p>
            <a:pPr marL="596498" lvl="1" indent="-298249" algn="l">
              <a:lnSpc>
                <a:spcPts val="4144"/>
              </a:lnSpc>
              <a:buFont typeface="Arial"/>
              <a:buChar char="•"/>
            </a:pPr>
            <a:r>
              <a:rPr lang="en-US" sz="2762" dirty="0" err="1">
                <a:solidFill>
                  <a:srgbClr val="000000"/>
                </a:solidFill>
                <a:latin typeface="Public Sans Medium"/>
                <a:ea typeface="Public Sans Medium"/>
                <a:cs typeface="Public Sans Medium"/>
                <a:sym typeface="Public Sans Medium"/>
              </a:rPr>
              <a:t>Hỗ</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trợ</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chủ</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sân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quản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lý</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hiệu</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quả</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lịch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đặt</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sân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dịch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vụ</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và</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doanh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thu</a:t>
            </a:r>
            <a:r>
              <a:rPr lang="en-US" sz="2762" dirty="0">
                <a:solidFill>
                  <a:srgbClr val="000000"/>
                </a:solidFill>
                <a:latin typeface="Public Sans Medium"/>
                <a:ea typeface="Public Sans Medium"/>
                <a:cs typeface="Public Sans Medium"/>
                <a:sym typeface="Public Sans Medium"/>
              </a:rPr>
              <a:t>.</a:t>
            </a:r>
          </a:p>
          <a:p>
            <a:pPr marL="596498" lvl="1" indent="-298249" algn="l">
              <a:lnSpc>
                <a:spcPts val="4144"/>
              </a:lnSpc>
              <a:buFont typeface="Arial"/>
              <a:buChar char="•"/>
            </a:pPr>
            <a:r>
              <a:rPr lang="en-US" sz="2762" dirty="0" err="1">
                <a:solidFill>
                  <a:srgbClr val="000000"/>
                </a:solidFill>
                <a:latin typeface="Public Sans Medium"/>
                <a:ea typeface="Public Sans Medium"/>
                <a:cs typeface="Public Sans Medium"/>
                <a:sym typeface="Public Sans Medium"/>
              </a:rPr>
              <a:t>Đảm</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bảo</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xử</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lý</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đồng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thời</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hạn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chế</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trùng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lịch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và</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cập</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nhật</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thông</a:t>
            </a:r>
            <a:r>
              <a:rPr lang="en-US" sz="2762" dirty="0">
                <a:solidFill>
                  <a:srgbClr val="000000"/>
                </a:solidFill>
                <a:latin typeface="Public Sans Medium"/>
                <a:ea typeface="Public Sans Medium"/>
                <a:cs typeface="Public Sans Medium"/>
                <a:sym typeface="Public Sans Medium"/>
              </a:rPr>
              <a:t> tin </a:t>
            </a:r>
            <a:r>
              <a:rPr lang="en-US" sz="2762" dirty="0" err="1">
                <a:solidFill>
                  <a:srgbClr val="000000"/>
                </a:solidFill>
                <a:latin typeface="Public Sans Medium"/>
                <a:ea typeface="Public Sans Medium"/>
                <a:cs typeface="Public Sans Medium"/>
                <a:sym typeface="Public Sans Medium"/>
              </a:rPr>
              <a:t>theo</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thời</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gian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thực</a:t>
            </a:r>
            <a:r>
              <a:rPr lang="en-US" sz="2762" dirty="0">
                <a:solidFill>
                  <a:srgbClr val="000000"/>
                </a:solidFill>
                <a:latin typeface="Public Sans Medium"/>
                <a:ea typeface="Public Sans Medium"/>
                <a:cs typeface="Public Sans Medium"/>
                <a:sym typeface="Public Sans Medium"/>
              </a:rPr>
              <a:t>.</a:t>
            </a:r>
          </a:p>
        </p:txBody>
      </p:sp>
      <p:sp>
        <p:nvSpPr>
          <p:cNvPr id="8" name="TextBox 8"/>
          <p:cNvSpPr txBox="1"/>
          <p:nvPr/>
        </p:nvSpPr>
        <p:spPr>
          <a:xfrm>
            <a:off x="1028700" y="4595935"/>
            <a:ext cx="12018864" cy="4156202"/>
          </a:xfrm>
          <a:prstGeom prst="rect">
            <a:avLst/>
          </a:prstGeom>
        </p:spPr>
        <p:txBody>
          <a:bodyPr wrap="square" lIns="0" tIns="0" rIns="0" bIns="0" rtlCol="0" anchor="t">
            <a:spAutoFit/>
          </a:bodyPr>
          <a:lstStyle/>
          <a:p>
            <a:pPr algn="l">
              <a:lnSpc>
                <a:spcPts val="4144"/>
              </a:lnSpc>
            </a:pPr>
            <a:r>
              <a:rPr lang="en-US" sz="2762" b="1" dirty="0">
                <a:solidFill>
                  <a:srgbClr val="000000"/>
                </a:solidFill>
                <a:latin typeface="Public Sans Bold"/>
                <a:ea typeface="Public Sans Bold"/>
                <a:cs typeface="Public Sans Bold"/>
                <a:sym typeface="Public Sans Bold"/>
              </a:rPr>
              <a:t>PHẠM VI:</a:t>
            </a:r>
          </a:p>
          <a:p>
            <a:pPr marL="596498" lvl="1" indent="-298249" algn="l">
              <a:lnSpc>
                <a:spcPts val="4144"/>
              </a:lnSpc>
              <a:buFont typeface="Arial"/>
              <a:buChar char="•"/>
            </a:pPr>
            <a:r>
              <a:rPr lang="en-US" sz="2762" dirty="0">
                <a:solidFill>
                  <a:srgbClr val="000000"/>
                </a:solidFill>
                <a:latin typeface="Public Sans Medium"/>
                <a:ea typeface="Public Sans Medium"/>
                <a:cs typeface="Public Sans Medium"/>
                <a:sym typeface="Public Sans Medium"/>
              </a:rPr>
              <a:t>Quản </a:t>
            </a:r>
            <a:r>
              <a:rPr lang="en-US" sz="2762" dirty="0" err="1">
                <a:solidFill>
                  <a:srgbClr val="000000"/>
                </a:solidFill>
                <a:latin typeface="Public Sans Medium"/>
                <a:ea typeface="Public Sans Medium"/>
                <a:cs typeface="Public Sans Medium"/>
                <a:sym typeface="Public Sans Medium"/>
              </a:rPr>
              <a:t>lý</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người</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dùng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Khách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hàng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Chủ</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sân</a:t>
            </a:r>
            <a:r>
              <a:rPr lang="en-US" sz="2762" dirty="0">
                <a:solidFill>
                  <a:srgbClr val="000000"/>
                </a:solidFill>
                <a:latin typeface="Public Sans Medium"/>
                <a:ea typeface="Public Sans Medium"/>
                <a:cs typeface="Public Sans Medium"/>
                <a:sym typeface="Public Sans Medium"/>
              </a:rPr>
              <a:t>, Quản </a:t>
            </a:r>
            <a:r>
              <a:rPr lang="en-US" sz="2762" dirty="0" err="1">
                <a:solidFill>
                  <a:srgbClr val="000000"/>
                </a:solidFill>
                <a:latin typeface="Public Sans Medium"/>
                <a:ea typeface="Public Sans Medium"/>
                <a:cs typeface="Public Sans Medium"/>
                <a:sym typeface="Public Sans Medium"/>
              </a:rPr>
              <a:t>trị</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viên</a:t>
            </a:r>
            <a:r>
              <a:rPr lang="en-US" sz="2762" dirty="0">
                <a:solidFill>
                  <a:srgbClr val="000000"/>
                </a:solidFill>
                <a:latin typeface="Public Sans Medium"/>
                <a:ea typeface="Public Sans Medium"/>
                <a:cs typeface="Public Sans Medium"/>
                <a:sym typeface="Public Sans Medium"/>
              </a:rPr>
              <a:t>).</a:t>
            </a:r>
          </a:p>
          <a:p>
            <a:pPr marL="596498" lvl="1" indent="-298249" algn="l">
              <a:lnSpc>
                <a:spcPts val="4144"/>
              </a:lnSpc>
              <a:buFont typeface="Arial"/>
              <a:buChar char="•"/>
            </a:pPr>
            <a:r>
              <a:rPr lang="en-US" sz="2762" dirty="0" err="1">
                <a:solidFill>
                  <a:srgbClr val="000000"/>
                </a:solidFill>
                <a:latin typeface="Public Sans Medium"/>
                <a:ea typeface="Public Sans Medium"/>
                <a:cs typeface="Public Sans Medium"/>
                <a:sym typeface="Public Sans Medium"/>
              </a:rPr>
              <a:t>Tìm</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kiếm</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xem</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thông</a:t>
            </a:r>
            <a:r>
              <a:rPr lang="en-US" sz="2762" dirty="0">
                <a:solidFill>
                  <a:srgbClr val="000000"/>
                </a:solidFill>
                <a:latin typeface="Public Sans Medium"/>
                <a:ea typeface="Public Sans Medium"/>
                <a:cs typeface="Public Sans Medium"/>
                <a:sym typeface="Public Sans Medium"/>
              </a:rPr>
              <a:t> tin </a:t>
            </a:r>
            <a:r>
              <a:rPr lang="en-US" sz="2762" dirty="0" err="1">
                <a:solidFill>
                  <a:srgbClr val="000000"/>
                </a:solidFill>
                <a:latin typeface="Public Sans Medium"/>
                <a:ea typeface="Public Sans Medium"/>
                <a:cs typeface="Public Sans Medium"/>
                <a:sym typeface="Public Sans Medium"/>
              </a:rPr>
              <a:t>và</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đặt</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sân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trực</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tuyến</a:t>
            </a:r>
            <a:r>
              <a:rPr lang="en-US" sz="2762" dirty="0">
                <a:solidFill>
                  <a:srgbClr val="000000"/>
                </a:solidFill>
                <a:latin typeface="Public Sans Medium"/>
                <a:ea typeface="Public Sans Medium"/>
                <a:cs typeface="Public Sans Medium"/>
                <a:sym typeface="Public Sans Medium"/>
              </a:rPr>
              <a:t>.</a:t>
            </a:r>
          </a:p>
          <a:p>
            <a:pPr marL="596498" lvl="1" indent="-298249" algn="l">
              <a:lnSpc>
                <a:spcPts val="4144"/>
              </a:lnSpc>
              <a:buFont typeface="Arial"/>
              <a:buChar char="•"/>
            </a:pPr>
            <a:r>
              <a:rPr lang="en-US" sz="2762" dirty="0">
                <a:solidFill>
                  <a:srgbClr val="000000"/>
                </a:solidFill>
                <a:latin typeface="Public Sans Medium"/>
                <a:ea typeface="Public Sans Medium"/>
                <a:cs typeface="Public Sans Medium"/>
                <a:sym typeface="Public Sans Medium"/>
              </a:rPr>
              <a:t>Thanh </a:t>
            </a:r>
            <a:r>
              <a:rPr lang="en-US" sz="2762" dirty="0" err="1">
                <a:solidFill>
                  <a:srgbClr val="000000"/>
                </a:solidFill>
                <a:latin typeface="Public Sans Medium"/>
                <a:ea typeface="Public Sans Medium"/>
                <a:cs typeface="Public Sans Medium"/>
                <a:sym typeface="Public Sans Medium"/>
              </a:rPr>
              <a:t>toán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trực</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tuyến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bằng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mã</a:t>
            </a:r>
            <a:r>
              <a:rPr lang="en-US" sz="2762" dirty="0">
                <a:solidFill>
                  <a:srgbClr val="000000"/>
                </a:solidFill>
                <a:latin typeface="Public Sans Medium"/>
                <a:ea typeface="Public Sans Medium"/>
                <a:cs typeface="Public Sans Medium"/>
                <a:sym typeface="Public Sans Medium"/>
              </a:rPr>
              <a:t> QR.</a:t>
            </a:r>
          </a:p>
          <a:p>
            <a:pPr marL="596498" lvl="1" indent="-298249" algn="l">
              <a:lnSpc>
                <a:spcPts val="4144"/>
              </a:lnSpc>
              <a:buFont typeface="Arial"/>
              <a:buChar char="•"/>
            </a:pPr>
            <a:r>
              <a:rPr lang="en-US" sz="2762" dirty="0">
                <a:solidFill>
                  <a:srgbClr val="000000"/>
                </a:solidFill>
                <a:latin typeface="Public Sans Medium"/>
                <a:ea typeface="Public Sans Medium"/>
                <a:cs typeface="Public Sans Medium"/>
                <a:sym typeface="Public Sans Medium"/>
              </a:rPr>
              <a:t>Quản </a:t>
            </a:r>
            <a:r>
              <a:rPr lang="en-US" sz="2762" dirty="0" err="1">
                <a:solidFill>
                  <a:srgbClr val="000000"/>
                </a:solidFill>
                <a:latin typeface="Public Sans Medium"/>
                <a:ea typeface="Public Sans Medium"/>
                <a:cs typeface="Public Sans Medium"/>
                <a:sym typeface="Public Sans Medium"/>
              </a:rPr>
              <a:t>lý</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lịch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đặt</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sân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dịch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vụ</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doanh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thu</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và</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đánh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giá</a:t>
            </a:r>
            <a:r>
              <a:rPr lang="en-US" sz="2762" dirty="0">
                <a:solidFill>
                  <a:srgbClr val="000000"/>
                </a:solidFill>
                <a:latin typeface="Public Sans Medium"/>
                <a:ea typeface="Public Sans Medium"/>
                <a:cs typeface="Public Sans Medium"/>
                <a:sym typeface="Public Sans Medium"/>
              </a:rPr>
              <a:t>.</a:t>
            </a:r>
          </a:p>
          <a:p>
            <a:pPr marL="596498" lvl="1" indent="-298249" algn="l">
              <a:lnSpc>
                <a:spcPts val="4144"/>
              </a:lnSpc>
              <a:buFont typeface="Arial"/>
              <a:buChar char="•"/>
            </a:pPr>
            <a:r>
              <a:rPr lang="en-US" sz="2762" dirty="0">
                <a:solidFill>
                  <a:srgbClr val="000000"/>
                </a:solidFill>
                <a:latin typeface="Public Sans Medium"/>
                <a:ea typeface="Public Sans Medium"/>
                <a:cs typeface="Public Sans Medium"/>
                <a:sym typeface="Public Sans Medium"/>
              </a:rPr>
              <a:t>Thông </a:t>
            </a:r>
            <a:r>
              <a:rPr lang="en-US" sz="2762" dirty="0" err="1">
                <a:solidFill>
                  <a:srgbClr val="000000"/>
                </a:solidFill>
                <a:latin typeface="Public Sans Medium"/>
                <a:ea typeface="Public Sans Medium"/>
                <a:cs typeface="Public Sans Medium"/>
                <a:sym typeface="Public Sans Medium"/>
              </a:rPr>
              <a:t>báo</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thời</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gian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thực</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bằng</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SignalR</a:t>
            </a:r>
            <a:r>
              <a:rPr lang="en-US" sz="2762" dirty="0">
                <a:solidFill>
                  <a:srgbClr val="000000"/>
                </a:solidFill>
                <a:latin typeface="Public Sans Medium"/>
                <a:ea typeface="Public Sans Medium"/>
                <a:cs typeface="Public Sans Medium"/>
                <a:sym typeface="Public Sans Medium"/>
              </a:rPr>
              <a:t>.</a:t>
            </a:r>
          </a:p>
          <a:p>
            <a:pPr marL="596498" lvl="1" indent="-298249" algn="l">
              <a:lnSpc>
                <a:spcPts val="4144"/>
              </a:lnSpc>
              <a:buFont typeface="Arial"/>
              <a:buChar char="•"/>
            </a:pPr>
            <a:r>
              <a:rPr lang="en-US" sz="2762" dirty="0" err="1">
                <a:solidFill>
                  <a:srgbClr val="000000"/>
                </a:solidFill>
                <a:latin typeface="Public Sans Medium"/>
                <a:ea typeface="Public Sans Medium"/>
                <a:cs typeface="Public Sans Medium"/>
                <a:sym typeface="Public Sans Medium"/>
              </a:rPr>
              <a:t>Tích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hợp</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bản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đồ</a:t>
            </a:r>
            <a:r>
              <a:rPr lang="en-US" sz="2762" dirty="0">
                <a:solidFill>
                  <a:srgbClr val="000000"/>
                </a:solidFill>
                <a:latin typeface="Public Sans Medium"/>
                <a:ea typeface="Public Sans Medium"/>
                <a:cs typeface="Public Sans Medium"/>
                <a:sym typeface="Public Sans Medium"/>
              </a:rPr>
              <a:t> OpenStreetMap </a:t>
            </a:r>
            <a:r>
              <a:rPr lang="en-US" sz="2762" dirty="0" err="1">
                <a:solidFill>
                  <a:srgbClr val="000000"/>
                </a:solidFill>
                <a:latin typeface="Public Sans Medium"/>
                <a:ea typeface="Public Sans Medium"/>
                <a:cs typeface="Public Sans Medium"/>
                <a:sym typeface="Public Sans Medium"/>
              </a:rPr>
              <a:t>và</a:t>
            </a:r>
            <a:r>
              <a:rPr lang="en-US" sz="2762" dirty="0">
                <a:solidFill>
                  <a:srgbClr val="000000"/>
                </a:solidFill>
                <a:latin typeface="Public Sans Medium"/>
                <a:ea typeface="Public Sans Medium"/>
                <a:cs typeface="Public Sans Medium"/>
                <a:sym typeface="Public Sans Medium"/>
              </a:rPr>
              <a:t> chatbot AI </a:t>
            </a:r>
            <a:r>
              <a:rPr lang="en-US" sz="2762" dirty="0" err="1">
                <a:solidFill>
                  <a:srgbClr val="000000"/>
                </a:solidFill>
                <a:latin typeface="Public Sans Medium"/>
                <a:ea typeface="Public Sans Medium"/>
                <a:cs typeface="Public Sans Medium"/>
                <a:sym typeface="Public Sans Medium"/>
              </a:rPr>
              <a:t>hỗ</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trợ</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người</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dùng</a:t>
            </a:r>
            <a:r>
              <a:rPr lang="en-US" sz="2762" dirty="0">
                <a:solidFill>
                  <a:srgbClr val="000000"/>
                </a:solidFill>
                <a:latin typeface="Public Sans Medium"/>
                <a:ea typeface="Public Sans Medium"/>
                <a:cs typeface="Public Sans Medium"/>
                <a:sym typeface="Public Sans Medium"/>
              </a:rPr>
              <a:t>.</a:t>
            </a:r>
          </a:p>
          <a:p>
            <a:pPr marL="596498" lvl="1" indent="-298249" algn="l">
              <a:lnSpc>
                <a:spcPts val="4144"/>
              </a:lnSpc>
              <a:buFont typeface="Arial"/>
              <a:buChar char="•"/>
            </a:pPr>
            <a:r>
              <a:rPr lang="en-US" sz="2762" dirty="0" err="1">
                <a:solidFill>
                  <a:srgbClr val="000000"/>
                </a:solidFill>
                <a:latin typeface="Public Sans Medium"/>
                <a:ea typeface="Public Sans Medium"/>
                <a:cs typeface="Public Sans Medium"/>
                <a:sym typeface="Public Sans Medium"/>
              </a:rPr>
              <a:t>Hỗ</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trợ</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gợi</a:t>
            </a:r>
            <a:r>
              <a:rPr lang="en-US" sz="2762" dirty="0">
                <a:solidFill>
                  <a:srgbClr val="000000"/>
                </a:solidFill>
                <a:latin typeface="Public Sans Medium"/>
                <a:ea typeface="Public Sans Medium"/>
                <a:cs typeface="Public Sans Medium"/>
                <a:sym typeface="Public Sans Medium"/>
              </a:rPr>
              <a:t> ý </a:t>
            </a:r>
            <a:r>
              <a:rPr lang="en-US" sz="2762" dirty="0" err="1">
                <a:solidFill>
                  <a:srgbClr val="000000"/>
                </a:solidFill>
                <a:latin typeface="Public Sans Medium"/>
                <a:ea typeface="Public Sans Medium"/>
                <a:cs typeface="Public Sans Medium"/>
                <a:sym typeface="Public Sans Medium"/>
              </a:rPr>
              <a:t>dịch</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vụ</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và</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cá</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nhân</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hóa</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trải</a:t>
            </a:r>
            <a:r>
              <a:rPr lang="en-US" sz="2762" dirty="0">
                <a:solidFill>
                  <a:srgbClr val="000000"/>
                </a:solidFill>
                <a:latin typeface="Public Sans Medium"/>
                <a:ea typeface="Public Sans Medium"/>
                <a:cs typeface="Public Sans Medium"/>
                <a:sym typeface="Public Sans Medium"/>
              </a:rPr>
              <a:t> </a:t>
            </a:r>
            <a:r>
              <a:rPr lang="en-US" sz="2762" dirty="0" err="1">
                <a:solidFill>
                  <a:srgbClr val="000000"/>
                </a:solidFill>
                <a:latin typeface="Public Sans Medium"/>
                <a:ea typeface="Public Sans Medium"/>
                <a:cs typeface="Public Sans Medium"/>
                <a:sym typeface="Public Sans Medium"/>
              </a:rPr>
              <a:t>nghiệm</a:t>
            </a:r>
            <a:r>
              <a:rPr lang="en-US" sz="2762" dirty="0">
                <a:solidFill>
                  <a:srgbClr val="000000"/>
                </a:solidFill>
                <a:latin typeface="Public Sans Medium"/>
                <a:ea typeface="Public Sans Medium"/>
                <a:cs typeface="Public Sans Medium"/>
                <a:sym typeface="Public Sans Medium"/>
              </a:rPr>
              <a:t>.</a:t>
            </a:r>
          </a:p>
        </p:txBody>
      </p:sp>
      <p:sp>
        <p:nvSpPr>
          <p:cNvPr id="9" name="TextBox 9"/>
          <p:cNvSpPr txBox="1"/>
          <p:nvPr/>
        </p:nvSpPr>
        <p:spPr>
          <a:xfrm>
            <a:off x="16117420" y="9200828"/>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V="1">
            <a:off x="-2352143" y="1075404"/>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a:off x="9976965" y="2199448"/>
            <a:ext cx="9651286" cy="7559332"/>
          </a:xfrm>
          <a:custGeom>
            <a:avLst/>
            <a:gdLst/>
            <a:ahLst/>
            <a:cxnLst/>
            <a:rect l="l" t="t" r="r" b="b"/>
            <a:pathLst>
              <a:path w="9651286" h="7559332">
                <a:moveTo>
                  <a:pt x="9651286" y="0"/>
                </a:moveTo>
                <a:lnTo>
                  <a:pt x="0" y="0"/>
                </a:lnTo>
                <a:lnTo>
                  <a:pt x="0" y="7559332"/>
                </a:lnTo>
                <a:lnTo>
                  <a:pt x="9651286" y="7559332"/>
                </a:lnTo>
                <a:lnTo>
                  <a:pt x="965128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0321024" flipV="1">
            <a:off x="14410407" y="-2774093"/>
            <a:ext cx="4106193" cy="4553238"/>
          </a:xfrm>
          <a:custGeom>
            <a:avLst/>
            <a:gdLst/>
            <a:ahLst/>
            <a:cxnLst/>
            <a:rect l="l" t="t" r="r" b="b"/>
            <a:pathLst>
              <a:path w="4106193" h="4553238">
                <a:moveTo>
                  <a:pt x="0" y="4553238"/>
                </a:moveTo>
                <a:lnTo>
                  <a:pt x="4106193" y="4553238"/>
                </a:lnTo>
                <a:lnTo>
                  <a:pt x="4106193" y="0"/>
                </a:lnTo>
                <a:lnTo>
                  <a:pt x="0" y="0"/>
                </a:lnTo>
                <a:lnTo>
                  <a:pt x="0" y="455323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5501588">
            <a:off x="1537497" y="6065251"/>
            <a:ext cx="4204498" cy="7226481"/>
          </a:xfrm>
          <a:custGeom>
            <a:avLst/>
            <a:gdLst/>
            <a:ahLst/>
            <a:cxnLst/>
            <a:rect l="l" t="t" r="r" b="b"/>
            <a:pathLst>
              <a:path w="4204498" h="7226481">
                <a:moveTo>
                  <a:pt x="0" y="0"/>
                </a:moveTo>
                <a:lnTo>
                  <a:pt x="4204498" y="0"/>
                </a:lnTo>
                <a:lnTo>
                  <a:pt x="4204498" y="7226480"/>
                </a:lnTo>
                <a:lnTo>
                  <a:pt x="0" y="72264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2128684" y="6553833"/>
            <a:ext cx="1788391" cy="1788391"/>
          </a:xfrm>
          <a:custGeom>
            <a:avLst/>
            <a:gdLst/>
            <a:ahLst/>
            <a:cxnLst/>
            <a:rect l="l" t="t" r="r" b="b"/>
            <a:pathLst>
              <a:path w="1788391" h="1788391">
                <a:moveTo>
                  <a:pt x="0" y="0"/>
                </a:moveTo>
                <a:lnTo>
                  <a:pt x="1788391" y="0"/>
                </a:lnTo>
                <a:lnTo>
                  <a:pt x="1788391" y="1788391"/>
                </a:lnTo>
                <a:lnTo>
                  <a:pt x="0" y="1788391"/>
                </a:lnTo>
                <a:lnTo>
                  <a:pt x="0" y="0"/>
                </a:lnTo>
                <a:close/>
              </a:path>
            </a:pathLst>
          </a:custGeom>
          <a:blipFill>
            <a:blip r:embed="rId5"/>
            <a:stretch>
              <a:fillRect/>
            </a:stretch>
          </a:blipFill>
        </p:spPr>
        <p:txBody>
          <a:bodyPr/>
          <a:lstStyle/>
          <a:p>
            <a:endParaRPr lang="en-US"/>
          </a:p>
        </p:txBody>
      </p:sp>
      <p:sp>
        <p:nvSpPr>
          <p:cNvPr id="7" name="Freeform 7"/>
          <p:cNvSpPr/>
          <p:nvPr/>
        </p:nvSpPr>
        <p:spPr>
          <a:xfrm>
            <a:off x="8415136" y="6323300"/>
            <a:ext cx="2226987" cy="2226987"/>
          </a:xfrm>
          <a:custGeom>
            <a:avLst/>
            <a:gdLst/>
            <a:ahLst/>
            <a:cxnLst/>
            <a:rect l="l" t="t" r="r" b="b"/>
            <a:pathLst>
              <a:path w="2226987" h="2226987">
                <a:moveTo>
                  <a:pt x="0" y="0"/>
                </a:moveTo>
                <a:lnTo>
                  <a:pt x="2226987" y="0"/>
                </a:lnTo>
                <a:lnTo>
                  <a:pt x="2226987" y="2226987"/>
                </a:lnTo>
                <a:lnTo>
                  <a:pt x="0" y="2226987"/>
                </a:lnTo>
                <a:lnTo>
                  <a:pt x="0" y="0"/>
                </a:lnTo>
                <a:close/>
              </a:path>
            </a:pathLst>
          </a:custGeom>
          <a:blipFill>
            <a:blip r:embed="rId6"/>
            <a:stretch>
              <a:fillRect/>
            </a:stretch>
          </a:blipFill>
        </p:spPr>
        <p:txBody>
          <a:bodyPr/>
          <a:lstStyle/>
          <a:p>
            <a:endParaRPr lang="en-US"/>
          </a:p>
        </p:txBody>
      </p:sp>
      <p:sp>
        <p:nvSpPr>
          <p:cNvPr id="8" name="Freeform 8"/>
          <p:cNvSpPr/>
          <p:nvPr/>
        </p:nvSpPr>
        <p:spPr>
          <a:xfrm>
            <a:off x="8036126" y="3407941"/>
            <a:ext cx="1931714" cy="1992080"/>
          </a:xfrm>
          <a:custGeom>
            <a:avLst/>
            <a:gdLst/>
            <a:ahLst/>
            <a:cxnLst/>
            <a:rect l="l" t="t" r="r" b="b"/>
            <a:pathLst>
              <a:path w="1931714" h="1992080">
                <a:moveTo>
                  <a:pt x="0" y="0"/>
                </a:moveTo>
                <a:lnTo>
                  <a:pt x="1931714" y="0"/>
                </a:lnTo>
                <a:lnTo>
                  <a:pt x="1931714" y="1992080"/>
                </a:lnTo>
                <a:lnTo>
                  <a:pt x="0" y="1992080"/>
                </a:lnTo>
                <a:lnTo>
                  <a:pt x="0" y="0"/>
                </a:lnTo>
                <a:close/>
              </a:path>
            </a:pathLst>
          </a:custGeom>
          <a:blipFill>
            <a:blip r:embed="rId7"/>
            <a:stretch>
              <a:fillRect/>
            </a:stretch>
          </a:blipFill>
        </p:spPr>
        <p:txBody>
          <a:bodyPr/>
          <a:lstStyle/>
          <a:p>
            <a:endParaRPr lang="en-US"/>
          </a:p>
        </p:txBody>
      </p:sp>
      <p:sp>
        <p:nvSpPr>
          <p:cNvPr id="9" name="Freeform 9"/>
          <p:cNvSpPr/>
          <p:nvPr/>
        </p:nvSpPr>
        <p:spPr>
          <a:xfrm>
            <a:off x="10855887" y="3486739"/>
            <a:ext cx="2583056" cy="2149320"/>
          </a:xfrm>
          <a:custGeom>
            <a:avLst/>
            <a:gdLst/>
            <a:ahLst/>
            <a:cxnLst/>
            <a:rect l="l" t="t" r="r" b="b"/>
            <a:pathLst>
              <a:path w="2583056" h="2149320">
                <a:moveTo>
                  <a:pt x="0" y="0"/>
                </a:moveTo>
                <a:lnTo>
                  <a:pt x="2583055" y="0"/>
                </a:lnTo>
                <a:lnTo>
                  <a:pt x="2583055" y="2149320"/>
                </a:lnTo>
                <a:lnTo>
                  <a:pt x="0" y="2149320"/>
                </a:lnTo>
                <a:lnTo>
                  <a:pt x="0" y="0"/>
                </a:lnTo>
                <a:close/>
              </a:path>
            </a:pathLst>
          </a:custGeom>
          <a:blipFill>
            <a:blip r:embed="rId8"/>
            <a:stretch>
              <a:fillRect l="-62731" t="-93247" r="-189146" b="-88540"/>
            </a:stretch>
          </a:blipFill>
        </p:spPr>
        <p:txBody>
          <a:bodyPr/>
          <a:lstStyle/>
          <a:p>
            <a:endParaRPr lang="en-US"/>
          </a:p>
        </p:txBody>
      </p:sp>
      <p:sp>
        <p:nvSpPr>
          <p:cNvPr id="10" name="Freeform 10"/>
          <p:cNvSpPr/>
          <p:nvPr/>
        </p:nvSpPr>
        <p:spPr>
          <a:xfrm>
            <a:off x="2128684" y="3407941"/>
            <a:ext cx="2107546" cy="1973429"/>
          </a:xfrm>
          <a:custGeom>
            <a:avLst/>
            <a:gdLst/>
            <a:ahLst/>
            <a:cxnLst/>
            <a:rect l="l" t="t" r="r" b="b"/>
            <a:pathLst>
              <a:path w="2107546" h="1973429">
                <a:moveTo>
                  <a:pt x="0" y="0"/>
                </a:moveTo>
                <a:lnTo>
                  <a:pt x="2107546" y="0"/>
                </a:lnTo>
                <a:lnTo>
                  <a:pt x="2107546" y="1973429"/>
                </a:lnTo>
                <a:lnTo>
                  <a:pt x="0" y="197342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1" name="Freeform 11"/>
          <p:cNvSpPr/>
          <p:nvPr/>
        </p:nvSpPr>
        <p:spPr>
          <a:xfrm>
            <a:off x="5071556" y="3407941"/>
            <a:ext cx="2071348" cy="1973429"/>
          </a:xfrm>
          <a:custGeom>
            <a:avLst/>
            <a:gdLst/>
            <a:ahLst/>
            <a:cxnLst/>
            <a:rect l="l" t="t" r="r" b="b"/>
            <a:pathLst>
              <a:path w="2071348" h="1973429">
                <a:moveTo>
                  <a:pt x="0" y="0"/>
                </a:moveTo>
                <a:lnTo>
                  <a:pt x="2071348" y="0"/>
                </a:lnTo>
                <a:lnTo>
                  <a:pt x="2071348" y="1973429"/>
                </a:lnTo>
                <a:lnTo>
                  <a:pt x="0" y="1973429"/>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11783210" y="6476795"/>
            <a:ext cx="2984687" cy="1865430"/>
          </a:xfrm>
          <a:custGeom>
            <a:avLst/>
            <a:gdLst/>
            <a:ahLst/>
            <a:cxnLst/>
            <a:rect l="l" t="t" r="r" b="b"/>
            <a:pathLst>
              <a:path w="2984687" h="1865430">
                <a:moveTo>
                  <a:pt x="0" y="0"/>
                </a:moveTo>
                <a:lnTo>
                  <a:pt x="2984687" y="0"/>
                </a:lnTo>
                <a:lnTo>
                  <a:pt x="2984687" y="1865429"/>
                </a:lnTo>
                <a:lnTo>
                  <a:pt x="0" y="1865429"/>
                </a:lnTo>
                <a:lnTo>
                  <a:pt x="0" y="0"/>
                </a:lnTo>
                <a:close/>
              </a:path>
            </a:pathLst>
          </a:custGeom>
          <a:blipFill>
            <a:blip r:embed="rId11"/>
            <a:stretch>
              <a:fillRect/>
            </a:stretch>
          </a:blipFill>
        </p:spPr>
        <p:txBody>
          <a:bodyPr/>
          <a:lstStyle/>
          <a:p>
            <a:endParaRPr lang="en-US"/>
          </a:p>
        </p:txBody>
      </p:sp>
      <p:sp>
        <p:nvSpPr>
          <p:cNvPr id="13" name="Freeform 13"/>
          <p:cNvSpPr/>
          <p:nvPr/>
        </p:nvSpPr>
        <p:spPr>
          <a:xfrm>
            <a:off x="4543112" y="6591303"/>
            <a:ext cx="3116526" cy="1750921"/>
          </a:xfrm>
          <a:custGeom>
            <a:avLst/>
            <a:gdLst/>
            <a:ahLst/>
            <a:cxnLst/>
            <a:rect l="l" t="t" r="r" b="b"/>
            <a:pathLst>
              <a:path w="3116526" h="1750921">
                <a:moveTo>
                  <a:pt x="0" y="0"/>
                </a:moveTo>
                <a:lnTo>
                  <a:pt x="3116526" y="0"/>
                </a:lnTo>
                <a:lnTo>
                  <a:pt x="3116526" y="1750921"/>
                </a:lnTo>
                <a:lnTo>
                  <a:pt x="0" y="1750921"/>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4" name="Freeform 14"/>
          <p:cNvSpPr/>
          <p:nvPr/>
        </p:nvSpPr>
        <p:spPr>
          <a:xfrm>
            <a:off x="14114131" y="3570342"/>
            <a:ext cx="1667278" cy="1667278"/>
          </a:xfrm>
          <a:custGeom>
            <a:avLst/>
            <a:gdLst/>
            <a:ahLst/>
            <a:cxnLst/>
            <a:rect l="l" t="t" r="r" b="b"/>
            <a:pathLst>
              <a:path w="1667278" h="1667278">
                <a:moveTo>
                  <a:pt x="0" y="0"/>
                </a:moveTo>
                <a:lnTo>
                  <a:pt x="1667278" y="0"/>
                </a:lnTo>
                <a:lnTo>
                  <a:pt x="1667278" y="1667278"/>
                </a:lnTo>
                <a:lnTo>
                  <a:pt x="0" y="1667278"/>
                </a:lnTo>
                <a:lnTo>
                  <a:pt x="0" y="0"/>
                </a:lnTo>
                <a:close/>
              </a:path>
            </a:pathLst>
          </a:custGeom>
          <a:blipFill>
            <a:blip r:embed="rId13"/>
            <a:stretch>
              <a:fillRect/>
            </a:stretch>
          </a:blipFill>
        </p:spPr>
        <p:txBody>
          <a:bodyPr/>
          <a:lstStyle/>
          <a:p>
            <a:endParaRPr lang="en-US"/>
          </a:p>
        </p:txBody>
      </p:sp>
      <p:sp>
        <p:nvSpPr>
          <p:cNvPr id="15" name="TextBox 15"/>
          <p:cNvSpPr txBox="1"/>
          <p:nvPr/>
        </p:nvSpPr>
        <p:spPr>
          <a:xfrm>
            <a:off x="5164675" y="341262"/>
            <a:ext cx="6511734" cy="812209"/>
          </a:xfrm>
          <a:prstGeom prst="rect">
            <a:avLst/>
          </a:prstGeom>
        </p:spPr>
        <p:txBody>
          <a:bodyPr lIns="0" tIns="0" rIns="0" bIns="0" rtlCol="0" anchor="t">
            <a:spAutoFit/>
          </a:bodyPr>
          <a:lstStyle/>
          <a:p>
            <a:pPr algn="l">
              <a:lnSpc>
                <a:spcPts val="6804"/>
              </a:lnSpc>
            </a:pPr>
            <a:r>
              <a:rPr lang="en-US" sz="4536" b="1" spc="1" dirty="0">
                <a:solidFill>
                  <a:schemeClr val="tx2"/>
                </a:solidFill>
                <a:latin typeface="Times New Roman" panose="02020603050405020304" pitchFamily="18" charset="0"/>
                <a:ea typeface="Public Sans Bold"/>
                <a:cs typeface="Times New Roman" panose="02020603050405020304" pitchFamily="18" charset="0"/>
                <a:sym typeface="Public Sans Bold"/>
              </a:rPr>
              <a:t>CÔNG NGHỆ SỬ DỤNG</a:t>
            </a:r>
          </a:p>
        </p:txBody>
      </p:sp>
      <p:sp>
        <p:nvSpPr>
          <p:cNvPr id="16" name="TextBox 16"/>
          <p:cNvSpPr txBox="1"/>
          <p:nvPr/>
        </p:nvSpPr>
        <p:spPr>
          <a:xfrm>
            <a:off x="8765163" y="9229725"/>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dirty="0">
                <a:solidFill>
                  <a:srgbClr val="1250A1"/>
                </a:solidFill>
                <a:latin typeface="Garet Bold"/>
                <a:ea typeface="Garet Bold"/>
                <a:cs typeface="Garet Bold"/>
                <a:sym typeface="Garet Bold"/>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00275" y="840809"/>
            <a:ext cx="13887450" cy="9258300"/>
          </a:xfrm>
          <a:custGeom>
            <a:avLst/>
            <a:gdLst/>
            <a:ahLst/>
            <a:cxnLst/>
            <a:rect l="l" t="t" r="r" b="b"/>
            <a:pathLst>
              <a:path w="13887450" h="9258300">
                <a:moveTo>
                  <a:pt x="0" y="0"/>
                </a:moveTo>
                <a:lnTo>
                  <a:pt x="13887450" y="0"/>
                </a:lnTo>
                <a:lnTo>
                  <a:pt x="13887450" y="9258300"/>
                </a:lnTo>
                <a:lnTo>
                  <a:pt x="0" y="92583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5774182" y="38100"/>
            <a:ext cx="6739635" cy="644664"/>
          </a:xfrm>
          <a:prstGeom prst="rect">
            <a:avLst/>
          </a:prstGeom>
        </p:spPr>
        <p:txBody>
          <a:bodyPr lIns="0" tIns="0" rIns="0" bIns="0" rtlCol="0" anchor="t">
            <a:spAutoFit/>
          </a:bodyPr>
          <a:lstStyle/>
          <a:p>
            <a:pPr algn="l">
              <a:lnSpc>
                <a:spcPts val="5369"/>
              </a:lnSpc>
            </a:pPr>
            <a:r>
              <a:rPr lang="en-US" sz="3579" b="1" spc="1" dirty="0" err="1">
                <a:solidFill>
                  <a:srgbClr val="0B0A0A"/>
                </a:solidFill>
                <a:latin typeface="Public Sans Bold"/>
                <a:ea typeface="Public Sans Bold"/>
                <a:cs typeface="Public Sans Bold"/>
                <a:sym typeface="Public Sans Bold"/>
              </a:rPr>
              <a:t>Kiến</a:t>
            </a:r>
            <a:r>
              <a:rPr lang="en-US" sz="3579" b="1" spc="1" dirty="0">
                <a:solidFill>
                  <a:srgbClr val="0B0A0A"/>
                </a:solidFill>
                <a:latin typeface="Public Sans Bold"/>
                <a:ea typeface="Public Sans Bold"/>
                <a:cs typeface="Public Sans Bold"/>
                <a:sym typeface="Public Sans Bold"/>
              </a:rPr>
              <a:t> </a:t>
            </a:r>
            <a:r>
              <a:rPr lang="en-US" sz="3579" b="1" spc="1" dirty="0" err="1">
                <a:solidFill>
                  <a:srgbClr val="0B0A0A"/>
                </a:solidFill>
                <a:latin typeface="Public Sans Bold"/>
                <a:ea typeface="Public Sans Bold"/>
                <a:cs typeface="Public Sans Bold"/>
                <a:sym typeface="Public Sans Bold"/>
              </a:rPr>
              <a:t>trúc</a:t>
            </a:r>
            <a:r>
              <a:rPr lang="en-US" sz="3579" b="1" spc="1" dirty="0">
                <a:solidFill>
                  <a:srgbClr val="0B0A0A"/>
                </a:solidFill>
                <a:latin typeface="Public Sans Bold"/>
                <a:ea typeface="Public Sans Bold"/>
                <a:cs typeface="Public Sans Bold"/>
                <a:sym typeface="Public Sans Bold"/>
              </a:rPr>
              <a:t> Clean Architecture</a:t>
            </a:r>
          </a:p>
        </p:txBody>
      </p:sp>
      <p:sp>
        <p:nvSpPr>
          <p:cNvPr id="4" name="TextBox 4"/>
          <p:cNvSpPr txBox="1"/>
          <p:nvPr/>
        </p:nvSpPr>
        <p:spPr>
          <a:xfrm>
            <a:off x="15330052" y="9041834"/>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6015" y="1447639"/>
            <a:ext cx="16995970" cy="8730679"/>
          </a:xfrm>
          <a:custGeom>
            <a:avLst/>
            <a:gdLst/>
            <a:ahLst/>
            <a:cxnLst/>
            <a:rect l="l" t="t" r="r" b="b"/>
            <a:pathLst>
              <a:path w="16995970" h="8730679">
                <a:moveTo>
                  <a:pt x="0" y="0"/>
                </a:moveTo>
                <a:lnTo>
                  <a:pt x="16995970" y="0"/>
                </a:lnTo>
                <a:lnTo>
                  <a:pt x="16995970" y="8730679"/>
                </a:lnTo>
                <a:lnTo>
                  <a:pt x="0" y="873067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7081225" y="233540"/>
            <a:ext cx="4125550" cy="795160"/>
          </a:xfrm>
          <a:prstGeom prst="rect">
            <a:avLst/>
          </a:prstGeom>
        </p:spPr>
        <p:txBody>
          <a:bodyPr lIns="0" tIns="0" rIns="0" bIns="0" rtlCol="0" anchor="t">
            <a:spAutoFit/>
          </a:bodyPr>
          <a:lstStyle/>
          <a:p>
            <a:pPr algn="l">
              <a:lnSpc>
                <a:spcPts val="6569"/>
              </a:lnSpc>
            </a:pPr>
            <a:r>
              <a:rPr lang="en-US" sz="4379" b="1" spc="1">
                <a:solidFill>
                  <a:srgbClr val="0B0A0A"/>
                </a:solidFill>
                <a:latin typeface="Public Sans Bold"/>
                <a:ea typeface="Public Sans Bold"/>
                <a:cs typeface="Public Sans Bold"/>
                <a:sym typeface="Public Sans Bold"/>
              </a:rPr>
              <a:t>Mô hình CQRS</a:t>
            </a:r>
          </a:p>
        </p:txBody>
      </p:sp>
      <p:sp>
        <p:nvSpPr>
          <p:cNvPr id="4" name="TextBox 4"/>
          <p:cNvSpPr txBox="1"/>
          <p:nvPr/>
        </p:nvSpPr>
        <p:spPr>
          <a:xfrm>
            <a:off x="16186874" y="8947888"/>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69193" y="0"/>
            <a:ext cx="16032912" cy="10587368"/>
          </a:xfrm>
          <a:custGeom>
            <a:avLst/>
            <a:gdLst/>
            <a:ahLst/>
            <a:cxnLst/>
            <a:rect l="l" t="t" r="r" b="b"/>
            <a:pathLst>
              <a:path w="16032912" h="10587368">
                <a:moveTo>
                  <a:pt x="0" y="0"/>
                </a:moveTo>
                <a:lnTo>
                  <a:pt x="16032913" y="0"/>
                </a:lnTo>
                <a:lnTo>
                  <a:pt x="16032913" y="10587368"/>
                </a:lnTo>
                <a:lnTo>
                  <a:pt x="0" y="10587368"/>
                </a:lnTo>
                <a:lnTo>
                  <a:pt x="0" y="0"/>
                </a:lnTo>
                <a:close/>
              </a:path>
            </a:pathLst>
          </a:custGeom>
          <a:blipFill>
            <a:blip r:embed="rId2"/>
            <a:stretch>
              <a:fillRect t="-478" b="-478"/>
            </a:stretch>
          </a:blipFill>
        </p:spPr>
        <p:txBody>
          <a:bodyPr/>
          <a:lstStyle/>
          <a:p>
            <a:endParaRPr lang="en-US"/>
          </a:p>
        </p:txBody>
      </p:sp>
      <p:sp>
        <p:nvSpPr>
          <p:cNvPr id="3" name="TextBox 3"/>
          <p:cNvSpPr txBox="1"/>
          <p:nvPr/>
        </p:nvSpPr>
        <p:spPr>
          <a:xfrm>
            <a:off x="191568" y="5780106"/>
            <a:ext cx="3703189" cy="598171"/>
          </a:xfrm>
          <a:prstGeom prst="rect">
            <a:avLst/>
          </a:prstGeom>
        </p:spPr>
        <p:txBody>
          <a:bodyPr lIns="0" tIns="0" rIns="0" bIns="0" rtlCol="0" anchor="t">
            <a:spAutoFit/>
          </a:bodyPr>
          <a:lstStyle/>
          <a:p>
            <a:pPr algn="l">
              <a:lnSpc>
                <a:spcPts val="4949"/>
              </a:lnSpc>
            </a:pPr>
            <a:r>
              <a:rPr lang="en-US" sz="3299" b="1" dirty="0" err="1">
                <a:solidFill>
                  <a:srgbClr val="000000"/>
                </a:solidFill>
                <a:latin typeface="Public Sans Bold"/>
                <a:ea typeface="Public Sans Bold"/>
                <a:cs typeface="Public Sans Bold"/>
                <a:sym typeface="Public Sans Bold"/>
              </a:rPr>
              <a:t>Kiến</a:t>
            </a:r>
            <a:r>
              <a:rPr lang="en-US" sz="3299" b="1" dirty="0">
                <a:solidFill>
                  <a:srgbClr val="000000"/>
                </a:solidFill>
                <a:latin typeface="Public Sans Bold"/>
                <a:ea typeface="Public Sans Bold"/>
                <a:cs typeface="Public Sans Bold"/>
                <a:sym typeface="Public Sans Bold"/>
              </a:rPr>
              <a:t> </a:t>
            </a:r>
            <a:r>
              <a:rPr lang="en-US" sz="3299" b="1" dirty="0" err="1">
                <a:solidFill>
                  <a:srgbClr val="000000"/>
                </a:solidFill>
                <a:latin typeface="Public Sans Bold"/>
                <a:ea typeface="Public Sans Bold"/>
                <a:cs typeface="Public Sans Bold"/>
                <a:sym typeface="Public Sans Bold"/>
              </a:rPr>
              <a:t>trúc</a:t>
            </a:r>
            <a:r>
              <a:rPr lang="en-US" sz="3299" b="1" dirty="0">
                <a:solidFill>
                  <a:srgbClr val="000000"/>
                </a:solidFill>
                <a:latin typeface="Public Sans Bold"/>
                <a:ea typeface="Public Sans Bold"/>
                <a:cs typeface="Public Sans Bold"/>
                <a:sym typeface="Public Sans Bold"/>
              </a:rPr>
              <a:t> </a:t>
            </a:r>
            <a:r>
              <a:rPr lang="en-US" sz="3299" b="1" dirty="0" err="1">
                <a:solidFill>
                  <a:srgbClr val="000000"/>
                </a:solidFill>
                <a:latin typeface="Public Sans Bold"/>
                <a:ea typeface="Public Sans Bold"/>
                <a:cs typeface="Public Sans Bold"/>
                <a:sym typeface="Public Sans Bold"/>
              </a:rPr>
              <a:t>tổng</a:t>
            </a:r>
            <a:r>
              <a:rPr lang="en-US" sz="3299" b="1" dirty="0">
                <a:solidFill>
                  <a:srgbClr val="000000"/>
                </a:solidFill>
                <a:latin typeface="Public Sans Bold"/>
                <a:ea typeface="Public Sans Bold"/>
                <a:cs typeface="Public Sans Bold"/>
                <a:sym typeface="Public Sans Bold"/>
              </a:rPr>
              <a:t> </a:t>
            </a:r>
            <a:r>
              <a:rPr lang="en-US" sz="3299" b="1" dirty="0" err="1">
                <a:solidFill>
                  <a:srgbClr val="000000"/>
                </a:solidFill>
                <a:latin typeface="Public Sans Bold"/>
                <a:ea typeface="Public Sans Bold"/>
                <a:cs typeface="Public Sans Bold"/>
                <a:sym typeface="Public Sans Bold"/>
              </a:rPr>
              <a:t>thể</a:t>
            </a:r>
            <a:r>
              <a:rPr lang="en-US" sz="3299" b="1" dirty="0">
                <a:solidFill>
                  <a:srgbClr val="000000"/>
                </a:solidFill>
                <a:latin typeface="Public Sans Bold"/>
                <a:ea typeface="Public Sans Bold"/>
                <a:cs typeface="Public Sans Bold"/>
                <a:sym typeface="Public Sans Bold"/>
              </a:rPr>
              <a:t> </a:t>
            </a:r>
          </a:p>
        </p:txBody>
      </p:sp>
      <p:sp>
        <p:nvSpPr>
          <p:cNvPr id="4" name="TextBox 4"/>
          <p:cNvSpPr txBox="1"/>
          <p:nvPr/>
        </p:nvSpPr>
        <p:spPr>
          <a:xfrm>
            <a:off x="17160456" y="9018347"/>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4F330FE-9113-0532-39E6-EA83A95F38B7}"/>
              </a:ext>
            </a:extLst>
          </p:cNvPr>
          <p:cNvPicPr>
            <a:picLocks noChangeAspect="1"/>
          </p:cNvPicPr>
          <p:nvPr/>
        </p:nvPicPr>
        <p:blipFill>
          <a:blip r:embed="rId2"/>
          <a:stretch>
            <a:fillRect/>
          </a:stretch>
        </p:blipFill>
        <p:spPr>
          <a:xfrm>
            <a:off x="381000" y="265900"/>
            <a:ext cx="17907000" cy="9979488"/>
          </a:xfrm>
          <a:prstGeom prst="rect">
            <a:avLst/>
          </a:prstGeom>
        </p:spPr>
      </p:pic>
      <p:sp>
        <p:nvSpPr>
          <p:cNvPr id="4" name="TextBox 4"/>
          <p:cNvSpPr txBox="1"/>
          <p:nvPr/>
        </p:nvSpPr>
        <p:spPr>
          <a:xfrm>
            <a:off x="16501627" y="8986685"/>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7</a:t>
            </a:r>
          </a:p>
        </p:txBody>
      </p:sp>
      <p:sp>
        <p:nvSpPr>
          <p:cNvPr id="3" name="TextBox 3"/>
          <p:cNvSpPr txBox="1"/>
          <p:nvPr/>
        </p:nvSpPr>
        <p:spPr>
          <a:xfrm>
            <a:off x="4648200" y="41612"/>
            <a:ext cx="4495800" cy="639662"/>
          </a:xfrm>
          <a:prstGeom prst="rect">
            <a:avLst/>
          </a:prstGeom>
        </p:spPr>
        <p:txBody>
          <a:bodyPr wrap="square" lIns="0" tIns="0" rIns="0" bIns="0" rtlCol="0" anchor="t">
            <a:spAutoFit/>
          </a:bodyPr>
          <a:lstStyle/>
          <a:p>
            <a:pPr marL="0" lvl="0" indent="0" algn="ctr">
              <a:lnSpc>
                <a:spcPts val="5273"/>
              </a:lnSpc>
              <a:spcBef>
                <a:spcPct val="0"/>
              </a:spcBef>
            </a:pPr>
            <a:r>
              <a:rPr lang="en-US" sz="4322" b="1" dirty="0">
                <a:solidFill>
                  <a:srgbClr val="0B0A0A"/>
                </a:solidFill>
                <a:latin typeface="Times New Roman" panose="02020603050405020304" pitchFamily="18" charset="0"/>
                <a:ea typeface="Garet Bold"/>
                <a:cs typeface="Times New Roman" panose="02020603050405020304" pitchFamily="18" charset="0"/>
                <a:sym typeface="Garet Bold"/>
              </a:rPr>
              <a:t>THIẾT</a:t>
            </a:r>
            <a:r>
              <a:rPr lang="en-US" sz="4322" b="1" u="none" strike="noStrike" dirty="0">
                <a:solidFill>
                  <a:srgbClr val="0B0A0A"/>
                </a:solidFill>
                <a:latin typeface="Times New Roman" panose="02020603050405020304" pitchFamily="18" charset="0"/>
                <a:ea typeface="Garet Bold"/>
                <a:cs typeface="Times New Roman" panose="02020603050405020304" pitchFamily="18" charset="0"/>
                <a:sym typeface="Garet Bold"/>
              </a:rPr>
              <a:t> KẾ CSDL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3749084" y="195142"/>
            <a:ext cx="10789832" cy="10552207"/>
            <a:chOff x="0" y="0"/>
            <a:chExt cx="14386443" cy="14069609"/>
          </a:xfrm>
        </p:grpSpPr>
        <p:grpSp>
          <p:nvGrpSpPr>
            <p:cNvPr id="9" name="Group 9"/>
            <p:cNvGrpSpPr/>
            <p:nvPr/>
          </p:nvGrpSpPr>
          <p:grpSpPr>
            <a:xfrm rot="-10800000">
              <a:off x="0" y="0"/>
              <a:ext cx="14386443" cy="14069609"/>
              <a:chOff x="0" y="0"/>
              <a:chExt cx="813056" cy="795150"/>
            </a:xfrm>
          </p:grpSpPr>
          <p:sp>
            <p:nvSpPr>
              <p:cNvPr id="10" name="Freeform 10"/>
              <p:cNvSpPr/>
              <p:nvPr/>
            </p:nvSpPr>
            <p:spPr>
              <a:xfrm>
                <a:off x="0" y="0"/>
                <a:ext cx="813056" cy="795150"/>
              </a:xfrm>
              <a:custGeom>
                <a:avLst/>
                <a:gdLst/>
                <a:ahLst/>
                <a:cxnLst/>
                <a:rect l="l" t="t" r="r" b="b"/>
                <a:pathLst>
                  <a:path w="813056" h="795150">
                    <a:moveTo>
                      <a:pt x="26450" y="0"/>
                    </a:moveTo>
                    <a:lnTo>
                      <a:pt x="786606" y="0"/>
                    </a:lnTo>
                    <a:cubicBezTo>
                      <a:pt x="801214" y="0"/>
                      <a:pt x="813056" y="11842"/>
                      <a:pt x="813056" y="26450"/>
                    </a:cubicBezTo>
                    <a:lnTo>
                      <a:pt x="813056" y="768700"/>
                    </a:lnTo>
                    <a:cubicBezTo>
                      <a:pt x="813056" y="775715"/>
                      <a:pt x="810269" y="782442"/>
                      <a:pt x="805309" y="787403"/>
                    </a:cubicBezTo>
                    <a:cubicBezTo>
                      <a:pt x="800348" y="792363"/>
                      <a:pt x="793621" y="795150"/>
                      <a:pt x="786606" y="795150"/>
                    </a:cubicBezTo>
                    <a:lnTo>
                      <a:pt x="26450" y="795150"/>
                    </a:lnTo>
                    <a:cubicBezTo>
                      <a:pt x="11842" y="795150"/>
                      <a:pt x="0" y="783308"/>
                      <a:pt x="0" y="768700"/>
                    </a:cubicBezTo>
                    <a:lnTo>
                      <a:pt x="0" y="26450"/>
                    </a:lnTo>
                    <a:cubicBezTo>
                      <a:pt x="0" y="19435"/>
                      <a:pt x="2787" y="12707"/>
                      <a:pt x="7747" y="7747"/>
                    </a:cubicBezTo>
                    <a:cubicBezTo>
                      <a:pt x="12707" y="2787"/>
                      <a:pt x="19435" y="0"/>
                      <a:pt x="26450" y="0"/>
                    </a:cubicBezTo>
                    <a:close/>
                  </a:path>
                </a:pathLst>
              </a:custGeom>
              <a:ln w="9525" cap="sq">
                <a:gradFill>
                  <a:gsLst>
                    <a:gs pos="0">
                      <a:srgbClr val="CDFFD8">
                        <a:alpha val="100000"/>
                      </a:srgbClr>
                    </a:gs>
                    <a:gs pos="100000">
                      <a:srgbClr val="94B9FF">
                        <a:alpha val="100000"/>
                      </a:srgbClr>
                    </a:gs>
                  </a:gsLst>
                  <a:lin ang="0"/>
                </a:gradFill>
                <a:prstDash val="solid"/>
                <a:miter/>
              </a:ln>
            </p:spPr>
            <p:txBody>
              <a:bodyPr/>
              <a:lstStyle/>
              <a:p>
                <a:endParaRPr lang="en-US"/>
              </a:p>
            </p:txBody>
          </p:sp>
          <p:sp>
            <p:nvSpPr>
              <p:cNvPr id="11" name="TextBox 11"/>
              <p:cNvSpPr txBox="1"/>
              <p:nvPr/>
            </p:nvSpPr>
            <p:spPr>
              <a:xfrm>
                <a:off x="0" y="-28575"/>
                <a:ext cx="813056" cy="823725"/>
              </a:xfrm>
              <a:prstGeom prst="rect">
                <a:avLst/>
              </a:prstGeom>
            </p:spPr>
            <p:txBody>
              <a:bodyPr lIns="50800" tIns="50800" rIns="50800" bIns="50800" rtlCol="0" anchor="ctr"/>
              <a:lstStyle/>
              <a:p>
                <a:pPr algn="ctr">
                  <a:lnSpc>
                    <a:spcPts val="2519"/>
                  </a:lnSpc>
                  <a:spcBef>
                    <a:spcPct val="0"/>
                  </a:spcBef>
                </a:pPr>
                <a:endParaRPr/>
              </a:p>
            </p:txBody>
          </p:sp>
        </p:grpSp>
        <p:grpSp>
          <p:nvGrpSpPr>
            <p:cNvPr id="12" name="Group 12"/>
            <p:cNvGrpSpPr/>
            <p:nvPr/>
          </p:nvGrpSpPr>
          <p:grpSpPr>
            <a:xfrm rot="-10800000">
              <a:off x="750716" y="9634821"/>
              <a:ext cx="3988570" cy="3545281"/>
              <a:chOff x="0" y="0"/>
              <a:chExt cx="225416" cy="200363"/>
            </a:xfrm>
          </p:grpSpPr>
          <p:sp>
            <p:nvSpPr>
              <p:cNvPr id="13" name="Freeform 13"/>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14" name="TextBox 14"/>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grpSp>
          <p:nvGrpSpPr>
            <p:cNvPr id="15" name="Group 15"/>
            <p:cNvGrpSpPr/>
            <p:nvPr/>
          </p:nvGrpSpPr>
          <p:grpSpPr>
            <a:xfrm rot="-10800000">
              <a:off x="9647157" y="9634821"/>
              <a:ext cx="3988570" cy="3545281"/>
              <a:chOff x="0" y="0"/>
              <a:chExt cx="225416" cy="200363"/>
            </a:xfrm>
          </p:grpSpPr>
          <p:sp>
            <p:nvSpPr>
              <p:cNvPr id="16" name="Freeform 16"/>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17" name="TextBox 17"/>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grpSp>
          <p:nvGrpSpPr>
            <p:cNvPr id="18" name="Group 18"/>
            <p:cNvGrpSpPr/>
            <p:nvPr/>
          </p:nvGrpSpPr>
          <p:grpSpPr>
            <a:xfrm rot="-10800000">
              <a:off x="5160438" y="9634821"/>
              <a:ext cx="3988570" cy="3545281"/>
              <a:chOff x="0" y="0"/>
              <a:chExt cx="225416" cy="200363"/>
            </a:xfrm>
          </p:grpSpPr>
          <p:sp>
            <p:nvSpPr>
              <p:cNvPr id="19" name="Freeform 19"/>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20" name="TextBox 20"/>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grpSp>
          <p:nvGrpSpPr>
            <p:cNvPr id="21" name="Group 21"/>
            <p:cNvGrpSpPr/>
            <p:nvPr/>
          </p:nvGrpSpPr>
          <p:grpSpPr>
            <a:xfrm rot="-10800000">
              <a:off x="789214" y="5820468"/>
              <a:ext cx="3988570" cy="3545281"/>
              <a:chOff x="0" y="0"/>
              <a:chExt cx="225416" cy="200363"/>
            </a:xfrm>
          </p:grpSpPr>
          <p:sp>
            <p:nvSpPr>
              <p:cNvPr id="22" name="Freeform 22"/>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23" name="TextBox 23"/>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grpSp>
          <p:nvGrpSpPr>
            <p:cNvPr id="24" name="Group 24"/>
            <p:cNvGrpSpPr/>
            <p:nvPr/>
          </p:nvGrpSpPr>
          <p:grpSpPr>
            <a:xfrm rot="-10800000">
              <a:off x="9685656" y="5820468"/>
              <a:ext cx="3988570" cy="3545281"/>
              <a:chOff x="0" y="0"/>
              <a:chExt cx="225416" cy="200363"/>
            </a:xfrm>
          </p:grpSpPr>
          <p:sp>
            <p:nvSpPr>
              <p:cNvPr id="25" name="Freeform 25"/>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26" name="TextBox 26"/>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grpSp>
          <p:nvGrpSpPr>
            <p:cNvPr id="27" name="Group 27"/>
            <p:cNvGrpSpPr/>
            <p:nvPr/>
          </p:nvGrpSpPr>
          <p:grpSpPr>
            <a:xfrm rot="-10800000">
              <a:off x="5198937" y="5820468"/>
              <a:ext cx="3988570" cy="3545281"/>
              <a:chOff x="0" y="0"/>
              <a:chExt cx="225416" cy="200363"/>
            </a:xfrm>
          </p:grpSpPr>
          <p:sp>
            <p:nvSpPr>
              <p:cNvPr id="28" name="Freeform 28"/>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29" name="TextBox 29"/>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grpSp>
          <p:nvGrpSpPr>
            <p:cNvPr id="30" name="Group 30"/>
            <p:cNvGrpSpPr/>
            <p:nvPr/>
          </p:nvGrpSpPr>
          <p:grpSpPr>
            <a:xfrm rot="-10800000">
              <a:off x="865301" y="2006114"/>
              <a:ext cx="3988570" cy="3545281"/>
              <a:chOff x="0" y="0"/>
              <a:chExt cx="225416" cy="200363"/>
            </a:xfrm>
          </p:grpSpPr>
          <p:sp>
            <p:nvSpPr>
              <p:cNvPr id="31" name="Freeform 31"/>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32" name="TextBox 32"/>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grpSp>
          <p:nvGrpSpPr>
            <p:cNvPr id="33" name="Group 33"/>
            <p:cNvGrpSpPr/>
            <p:nvPr/>
          </p:nvGrpSpPr>
          <p:grpSpPr>
            <a:xfrm rot="-10800000">
              <a:off x="9761743" y="2006114"/>
              <a:ext cx="3988570" cy="3545281"/>
              <a:chOff x="0" y="0"/>
              <a:chExt cx="225416" cy="200363"/>
            </a:xfrm>
          </p:grpSpPr>
          <p:sp>
            <p:nvSpPr>
              <p:cNvPr id="34" name="Freeform 34"/>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35" name="TextBox 35"/>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grpSp>
          <p:nvGrpSpPr>
            <p:cNvPr id="36" name="Group 36"/>
            <p:cNvGrpSpPr/>
            <p:nvPr/>
          </p:nvGrpSpPr>
          <p:grpSpPr>
            <a:xfrm rot="-10800000">
              <a:off x="5275023" y="2006114"/>
              <a:ext cx="3988570" cy="3545281"/>
              <a:chOff x="0" y="0"/>
              <a:chExt cx="225416" cy="200363"/>
            </a:xfrm>
          </p:grpSpPr>
          <p:sp>
            <p:nvSpPr>
              <p:cNvPr id="37" name="Freeform 37"/>
              <p:cNvSpPr/>
              <p:nvPr/>
            </p:nvSpPr>
            <p:spPr>
              <a:xfrm>
                <a:off x="0" y="0"/>
                <a:ext cx="225416" cy="200363"/>
              </a:xfrm>
              <a:custGeom>
                <a:avLst/>
                <a:gdLst/>
                <a:ahLst/>
                <a:cxnLst/>
                <a:rect l="l" t="t" r="r" b="b"/>
                <a:pathLst>
                  <a:path w="225416" h="200363">
                    <a:moveTo>
                      <a:pt x="47702" y="0"/>
                    </a:moveTo>
                    <a:lnTo>
                      <a:pt x="177714" y="0"/>
                    </a:lnTo>
                    <a:cubicBezTo>
                      <a:pt x="190365" y="0"/>
                      <a:pt x="202498" y="5026"/>
                      <a:pt x="211444" y="13971"/>
                    </a:cubicBezTo>
                    <a:cubicBezTo>
                      <a:pt x="220390" y="22917"/>
                      <a:pt x="225416" y="35050"/>
                      <a:pt x="225416" y="47702"/>
                    </a:cubicBezTo>
                    <a:lnTo>
                      <a:pt x="225416" y="152661"/>
                    </a:lnTo>
                    <a:cubicBezTo>
                      <a:pt x="225416" y="179006"/>
                      <a:pt x="204059" y="200363"/>
                      <a:pt x="177714" y="200363"/>
                    </a:cubicBezTo>
                    <a:lnTo>
                      <a:pt x="47702" y="200363"/>
                    </a:lnTo>
                    <a:cubicBezTo>
                      <a:pt x="21357" y="200363"/>
                      <a:pt x="0" y="179006"/>
                      <a:pt x="0" y="152661"/>
                    </a:cubicBezTo>
                    <a:lnTo>
                      <a:pt x="0" y="47702"/>
                    </a:lnTo>
                    <a:cubicBezTo>
                      <a:pt x="0" y="21357"/>
                      <a:pt x="21357" y="0"/>
                      <a:pt x="47702" y="0"/>
                    </a:cubicBezTo>
                    <a:close/>
                  </a:path>
                </a:pathLst>
              </a:custGeom>
              <a:ln w="9525" cap="sq">
                <a:solidFill>
                  <a:srgbClr val="D9D9D9"/>
                </a:solidFill>
                <a:prstDash val="solid"/>
                <a:miter/>
              </a:ln>
            </p:spPr>
            <p:txBody>
              <a:bodyPr/>
              <a:lstStyle/>
              <a:p>
                <a:endParaRPr lang="en-US"/>
              </a:p>
            </p:txBody>
          </p:sp>
          <p:sp>
            <p:nvSpPr>
              <p:cNvPr id="38" name="TextBox 38"/>
              <p:cNvSpPr txBox="1"/>
              <p:nvPr/>
            </p:nvSpPr>
            <p:spPr>
              <a:xfrm>
                <a:off x="0" y="-28575"/>
                <a:ext cx="225416" cy="228938"/>
              </a:xfrm>
              <a:prstGeom prst="rect">
                <a:avLst/>
              </a:prstGeom>
            </p:spPr>
            <p:txBody>
              <a:bodyPr lIns="50800" tIns="50800" rIns="50800" bIns="50800" rtlCol="0" anchor="ctr"/>
              <a:lstStyle/>
              <a:p>
                <a:pPr algn="ctr">
                  <a:lnSpc>
                    <a:spcPts val="2519"/>
                  </a:lnSpc>
                  <a:spcBef>
                    <a:spcPct val="0"/>
                  </a:spcBef>
                </a:pPr>
                <a:endParaRPr/>
              </a:p>
            </p:txBody>
          </p:sp>
        </p:grpSp>
        <p:sp>
          <p:nvSpPr>
            <p:cNvPr id="39" name="Freeform 39"/>
            <p:cNvSpPr/>
            <p:nvPr/>
          </p:nvSpPr>
          <p:spPr>
            <a:xfrm>
              <a:off x="2063456" y="2553344"/>
              <a:ext cx="1225411" cy="1225411"/>
            </a:xfrm>
            <a:custGeom>
              <a:avLst/>
              <a:gdLst/>
              <a:ahLst/>
              <a:cxnLst/>
              <a:rect l="l" t="t" r="r" b="b"/>
              <a:pathLst>
                <a:path w="1225411" h="1225411">
                  <a:moveTo>
                    <a:pt x="0" y="0"/>
                  </a:moveTo>
                  <a:lnTo>
                    <a:pt x="1225411" y="0"/>
                  </a:lnTo>
                  <a:lnTo>
                    <a:pt x="1225411" y="1225411"/>
                  </a:lnTo>
                  <a:lnTo>
                    <a:pt x="0" y="12254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0" name="Freeform 40"/>
            <p:cNvSpPr/>
            <p:nvPr/>
          </p:nvSpPr>
          <p:spPr>
            <a:xfrm>
              <a:off x="11108638" y="2491614"/>
              <a:ext cx="1287141" cy="1287141"/>
            </a:xfrm>
            <a:custGeom>
              <a:avLst/>
              <a:gdLst/>
              <a:ahLst/>
              <a:cxnLst/>
              <a:rect l="l" t="t" r="r" b="b"/>
              <a:pathLst>
                <a:path w="1287141" h="1287141">
                  <a:moveTo>
                    <a:pt x="0" y="0"/>
                  </a:moveTo>
                  <a:lnTo>
                    <a:pt x="1287141" y="0"/>
                  </a:lnTo>
                  <a:lnTo>
                    <a:pt x="1287141" y="1287141"/>
                  </a:lnTo>
                  <a:lnTo>
                    <a:pt x="0" y="12871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1" name="Freeform 41"/>
            <p:cNvSpPr/>
            <p:nvPr/>
          </p:nvSpPr>
          <p:spPr>
            <a:xfrm>
              <a:off x="2022639" y="6206822"/>
              <a:ext cx="1521720" cy="1532868"/>
            </a:xfrm>
            <a:custGeom>
              <a:avLst/>
              <a:gdLst/>
              <a:ahLst/>
              <a:cxnLst/>
              <a:rect l="l" t="t" r="r" b="b"/>
              <a:pathLst>
                <a:path w="1521720" h="1532868">
                  <a:moveTo>
                    <a:pt x="0" y="0"/>
                  </a:moveTo>
                  <a:lnTo>
                    <a:pt x="1521720" y="0"/>
                  </a:lnTo>
                  <a:lnTo>
                    <a:pt x="1521720" y="1532868"/>
                  </a:lnTo>
                  <a:lnTo>
                    <a:pt x="0" y="15328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2" name="Freeform 42"/>
            <p:cNvSpPr/>
            <p:nvPr/>
          </p:nvSpPr>
          <p:spPr>
            <a:xfrm>
              <a:off x="11025322" y="6206822"/>
              <a:ext cx="1489744" cy="1449115"/>
            </a:xfrm>
            <a:custGeom>
              <a:avLst/>
              <a:gdLst/>
              <a:ahLst/>
              <a:cxnLst/>
              <a:rect l="l" t="t" r="r" b="b"/>
              <a:pathLst>
                <a:path w="1489744" h="1449115">
                  <a:moveTo>
                    <a:pt x="0" y="0"/>
                  </a:moveTo>
                  <a:lnTo>
                    <a:pt x="1489744" y="0"/>
                  </a:lnTo>
                  <a:lnTo>
                    <a:pt x="1489744" y="1449114"/>
                  </a:lnTo>
                  <a:lnTo>
                    <a:pt x="0" y="144911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3" name="Freeform 43"/>
            <p:cNvSpPr/>
            <p:nvPr/>
          </p:nvSpPr>
          <p:spPr>
            <a:xfrm>
              <a:off x="2155999" y="9927543"/>
              <a:ext cx="1199154" cy="1512694"/>
            </a:xfrm>
            <a:custGeom>
              <a:avLst/>
              <a:gdLst/>
              <a:ahLst/>
              <a:cxnLst/>
              <a:rect l="l" t="t" r="r" b="b"/>
              <a:pathLst>
                <a:path w="1199154" h="1512694">
                  <a:moveTo>
                    <a:pt x="0" y="0"/>
                  </a:moveTo>
                  <a:lnTo>
                    <a:pt x="1199154" y="0"/>
                  </a:lnTo>
                  <a:lnTo>
                    <a:pt x="1199154" y="1512693"/>
                  </a:lnTo>
                  <a:lnTo>
                    <a:pt x="0" y="151269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4" name="Freeform 44"/>
            <p:cNvSpPr/>
            <p:nvPr/>
          </p:nvSpPr>
          <p:spPr>
            <a:xfrm>
              <a:off x="6519786" y="9927543"/>
              <a:ext cx="1306976" cy="1437674"/>
            </a:xfrm>
            <a:custGeom>
              <a:avLst/>
              <a:gdLst/>
              <a:ahLst/>
              <a:cxnLst/>
              <a:rect l="l" t="t" r="r" b="b"/>
              <a:pathLst>
                <a:path w="1306976" h="1437674">
                  <a:moveTo>
                    <a:pt x="0" y="0"/>
                  </a:moveTo>
                  <a:lnTo>
                    <a:pt x="1306976" y="0"/>
                  </a:lnTo>
                  <a:lnTo>
                    <a:pt x="1306976" y="1437673"/>
                  </a:lnTo>
                  <a:lnTo>
                    <a:pt x="0" y="143767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45" name="Freeform 45"/>
            <p:cNvSpPr/>
            <p:nvPr/>
          </p:nvSpPr>
          <p:spPr>
            <a:xfrm>
              <a:off x="6413312" y="2567908"/>
              <a:ext cx="1768493" cy="1276530"/>
            </a:xfrm>
            <a:custGeom>
              <a:avLst/>
              <a:gdLst/>
              <a:ahLst/>
              <a:cxnLst/>
              <a:rect l="l" t="t" r="r" b="b"/>
              <a:pathLst>
                <a:path w="1768493" h="1276530">
                  <a:moveTo>
                    <a:pt x="0" y="0"/>
                  </a:moveTo>
                  <a:lnTo>
                    <a:pt x="1768492" y="0"/>
                  </a:lnTo>
                  <a:lnTo>
                    <a:pt x="1768492" y="1276530"/>
                  </a:lnTo>
                  <a:lnTo>
                    <a:pt x="0" y="127653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6" name="Freeform 46"/>
            <p:cNvSpPr/>
            <p:nvPr/>
          </p:nvSpPr>
          <p:spPr>
            <a:xfrm>
              <a:off x="6467029" y="6266570"/>
              <a:ext cx="1452385" cy="1444463"/>
            </a:xfrm>
            <a:custGeom>
              <a:avLst/>
              <a:gdLst/>
              <a:ahLst/>
              <a:cxnLst/>
              <a:rect l="l" t="t" r="r" b="b"/>
              <a:pathLst>
                <a:path w="1452385" h="1444463">
                  <a:moveTo>
                    <a:pt x="0" y="0"/>
                  </a:moveTo>
                  <a:lnTo>
                    <a:pt x="1452385" y="0"/>
                  </a:lnTo>
                  <a:lnTo>
                    <a:pt x="1452385" y="1444464"/>
                  </a:lnTo>
                  <a:lnTo>
                    <a:pt x="0" y="144446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47" name="Freeform 47"/>
            <p:cNvSpPr/>
            <p:nvPr/>
          </p:nvSpPr>
          <p:spPr>
            <a:xfrm>
              <a:off x="10574177" y="9941984"/>
              <a:ext cx="2134531" cy="1408790"/>
            </a:xfrm>
            <a:custGeom>
              <a:avLst/>
              <a:gdLst/>
              <a:ahLst/>
              <a:cxnLst/>
              <a:rect l="l" t="t" r="r" b="b"/>
              <a:pathLst>
                <a:path w="2134531" h="1408790">
                  <a:moveTo>
                    <a:pt x="0" y="0"/>
                  </a:moveTo>
                  <a:lnTo>
                    <a:pt x="2134531" y="0"/>
                  </a:lnTo>
                  <a:lnTo>
                    <a:pt x="2134531" y="1408791"/>
                  </a:lnTo>
                  <a:lnTo>
                    <a:pt x="0" y="1408791"/>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48" name="TextBox 48"/>
            <p:cNvSpPr txBox="1"/>
            <p:nvPr/>
          </p:nvSpPr>
          <p:spPr>
            <a:xfrm>
              <a:off x="1164334" y="4405606"/>
              <a:ext cx="3405870" cy="626416"/>
            </a:xfrm>
            <a:prstGeom prst="rect">
              <a:avLst/>
            </a:prstGeom>
          </p:spPr>
          <p:txBody>
            <a:bodyPr lIns="0" tIns="0" rIns="0" bIns="0" rtlCol="0" anchor="t">
              <a:spAutoFit/>
            </a:bodyPr>
            <a:lstStyle/>
            <a:p>
              <a:pPr algn="l">
                <a:lnSpc>
                  <a:spcPts val="3991"/>
                </a:lnSpc>
              </a:pPr>
              <a:r>
                <a:rPr lang="en-US" sz="3070" b="1">
                  <a:solidFill>
                    <a:srgbClr val="000000"/>
                  </a:solidFill>
                  <a:latin typeface="Saira Bold"/>
                  <a:ea typeface="Saira Bold"/>
                  <a:cs typeface="Saira Bold"/>
                  <a:sym typeface="Saira Bold"/>
                </a:rPr>
                <a:t>Tìm kiếm sân</a:t>
              </a:r>
            </a:p>
          </p:txBody>
        </p:sp>
        <p:sp>
          <p:nvSpPr>
            <p:cNvPr id="49" name="TextBox 49"/>
            <p:cNvSpPr txBox="1"/>
            <p:nvPr/>
          </p:nvSpPr>
          <p:spPr>
            <a:xfrm>
              <a:off x="5889477" y="4099880"/>
              <a:ext cx="2684487" cy="1276243"/>
            </a:xfrm>
            <a:prstGeom prst="rect">
              <a:avLst/>
            </a:prstGeom>
          </p:spPr>
          <p:txBody>
            <a:bodyPr lIns="0" tIns="0" rIns="0" bIns="0" rtlCol="0" anchor="t">
              <a:spAutoFit/>
            </a:bodyPr>
            <a:lstStyle/>
            <a:p>
              <a:pPr algn="ctr">
                <a:lnSpc>
                  <a:spcPts val="3991"/>
                </a:lnSpc>
              </a:pPr>
              <a:r>
                <a:rPr lang="en-US" sz="3070" b="1">
                  <a:solidFill>
                    <a:srgbClr val="000000"/>
                  </a:solidFill>
                  <a:latin typeface="Saira Bold"/>
                  <a:ea typeface="Saira Bold"/>
                  <a:cs typeface="Saira Bold"/>
                  <a:sym typeface="Saira Bold"/>
                </a:rPr>
                <a:t>Đặt sân trực tuyến</a:t>
              </a:r>
            </a:p>
          </p:txBody>
        </p:sp>
        <p:sp>
          <p:nvSpPr>
            <p:cNvPr id="50" name="TextBox 50"/>
            <p:cNvSpPr txBox="1"/>
            <p:nvPr/>
          </p:nvSpPr>
          <p:spPr>
            <a:xfrm>
              <a:off x="10229800" y="4099880"/>
              <a:ext cx="3080787" cy="1276243"/>
            </a:xfrm>
            <a:prstGeom prst="rect">
              <a:avLst/>
            </a:prstGeom>
          </p:spPr>
          <p:txBody>
            <a:bodyPr lIns="0" tIns="0" rIns="0" bIns="0" rtlCol="0" anchor="t">
              <a:spAutoFit/>
            </a:bodyPr>
            <a:lstStyle/>
            <a:p>
              <a:pPr algn="ctr">
                <a:lnSpc>
                  <a:spcPts val="3991"/>
                </a:lnSpc>
              </a:pPr>
              <a:r>
                <a:rPr lang="en-US" sz="3070" b="1">
                  <a:solidFill>
                    <a:srgbClr val="000000"/>
                  </a:solidFill>
                  <a:latin typeface="Saira Bold"/>
                  <a:ea typeface="Saira Bold"/>
                  <a:cs typeface="Saira Bold"/>
                  <a:sym typeface="Saira Bold"/>
                </a:rPr>
                <a:t>Thanh toán Onlne</a:t>
              </a:r>
            </a:p>
          </p:txBody>
        </p:sp>
        <p:sp>
          <p:nvSpPr>
            <p:cNvPr id="51" name="TextBox 51"/>
            <p:cNvSpPr txBox="1"/>
            <p:nvPr/>
          </p:nvSpPr>
          <p:spPr>
            <a:xfrm>
              <a:off x="1343327" y="7936899"/>
              <a:ext cx="2864392" cy="1276243"/>
            </a:xfrm>
            <a:prstGeom prst="rect">
              <a:avLst/>
            </a:prstGeom>
          </p:spPr>
          <p:txBody>
            <a:bodyPr lIns="0" tIns="0" rIns="0" bIns="0" rtlCol="0" anchor="t">
              <a:spAutoFit/>
            </a:bodyPr>
            <a:lstStyle/>
            <a:p>
              <a:pPr algn="ctr">
                <a:lnSpc>
                  <a:spcPts val="3991"/>
                </a:lnSpc>
              </a:pPr>
              <a:r>
                <a:rPr lang="en-US" sz="3070" b="1">
                  <a:solidFill>
                    <a:srgbClr val="000000"/>
                  </a:solidFill>
                  <a:latin typeface="Saira Bold"/>
                  <a:ea typeface="Saira Bold"/>
                  <a:cs typeface="Saira Bold"/>
                  <a:sym typeface="Saira Bold"/>
                </a:rPr>
                <a:t>Quản lý lịch</a:t>
              </a:r>
            </a:p>
            <a:p>
              <a:pPr algn="ctr">
                <a:lnSpc>
                  <a:spcPts val="3991"/>
                </a:lnSpc>
              </a:pPr>
              <a:r>
                <a:rPr lang="en-US" sz="3070">
                  <a:solidFill>
                    <a:srgbClr val="000000"/>
                  </a:solidFill>
                  <a:latin typeface="Saira"/>
                  <a:ea typeface="Saira"/>
                  <a:cs typeface="Saira"/>
                  <a:sym typeface="Saira"/>
                </a:rPr>
                <a:t>(Chủ sân)</a:t>
              </a:r>
            </a:p>
          </p:txBody>
        </p:sp>
        <p:sp>
          <p:nvSpPr>
            <p:cNvPr id="52" name="TextBox 52"/>
            <p:cNvSpPr txBox="1"/>
            <p:nvPr/>
          </p:nvSpPr>
          <p:spPr>
            <a:xfrm>
              <a:off x="5331929" y="7936899"/>
              <a:ext cx="3722585" cy="1276243"/>
            </a:xfrm>
            <a:prstGeom prst="rect">
              <a:avLst/>
            </a:prstGeom>
          </p:spPr>
          <p:txBody>
            <a:bodyPr lIns="0" tIns="0" rIns="0" bIns="0" rtlCol="0" anchor="t">
              <a:spAutoFit/>
            </a:bodyPr>
            <a:lstStyle/>
            <a:p>
              <a:pPr algn="ctr">
                <a:lnSpc>
                  <a:spcPts val="3991"/>
                </a:lnSpc>
              </a:pPr>
              <a:r>
                <a:rPr lang="en-US" sz="3070" b="1">
                  <a:solidFill>
                    <a:srgbClr val="000000"/>
                  </a:solidFill>
                  <a:latin typeface="Saira Bold"/>
                  <a:ea typeface="Saira Bold"/>
                  <a:cs typeface="Saira Bold"/>
                  <a:sym typeface="Saira Bold"/>
                </a:rPr>
                <a:t>Quản lý dịch vụ</a:t>
              </a:r>
            </a:p>
            <a:p>
              <a:pPr algn="ctr">
                <a:lnSpc>
                  <a:spcPts val="3991"/>
                </a:lnSpc>
              </a:pPr>
              <a:r>
                <a:rPr lang="en-US" sz="3070">
                  <a:solidFill>
                    <a:srgbClr val="000000"/>
                  </a:solidFill>
                  <a:latin typeface="Saira"/>
                  <a:ea typeface="Saira"/>
                  <a:cs typeface="Saira"/>
                  <a:sym typeface="Saira"/>
                </a:rPr>
                <a:t>(Chủ sân)</a:t>
              </a:r>
            </a:p>
          </p:txBody>
        </p:sp>
        <p:sp>
          <p:nvSpPr>
            <p:cNvPr id="53" name="TextBox 53"/>
            <p:cNvSpPr txBox="1"/>
            <p:nvPr/>
          </p:nvSpPr>
          <p:spPr>
            <a:xfrm>
              <a:off x="10367304" y="7936899"/>
              <a:ext cx="2805780" cy="1276243"/>
            </a:xfrm>
            <a:prstGeom prst="rect">
              <a:avLst/>
            </a:prstGeom>
          </p:spPr>
          <p:txBody>
            <a:bodyPr lIns="0" tIns="0" rIns="0" bIns="0" rtlCol="0" anchor="t">
              <a:spAutoFit/>
            </a:bodyPr>
            <a:lstStyle/>
            <a:p>
              <a:pPr algn="ctr">
                <a:lnSpc>
                  <a:spcPts val="3991"/>
                </a:lnSpc>
              </a:pPr>
              <a:r>
                <a:rPr lang="en-US" sz="3070" b="1">
                  <a:solidFill>
                    <a:srgbClr val="000000"/>
                  </a:solidFill>
                  <a:latin typeface="Saira Bold"/>
                  <a:ea typeface="Saira Bold"/>
                  <a:cs typeface="Saira Bold"/>
                  <a:sym typeface="Saira Bold"/>
                </a:rPr>
                <a:t>Quản lý doanh thu</a:t>
              </a:r>
            </a:p>
          </p:txBody>
        </p:sp>
        <p:sp>
          <p:nvSpPr>
            <p:cNvPr id="54" name="TextBox 54"/>
            <p:cNvSpPr txBox="1"/>
            <p:nvPr/>
          </p:nvSpPr>
          <p:spPr>
            <a:xfrm>
              <a:off x="1273272" y="11667800"/>
              <a:ext cx="2805780" cy="1276243"/>
            </a:xfrm>
            <a:prstGeom prst="rect">
              <a:avLst/>
            </a:prstGeom>
          </p:spPr>
          <p:txBody>
            <a:bodyPr lIns="0" tIns="0" rIns="0" bIns="0" rtlCol="0" anchor="t">
              <a:spAutoFit/>
            </a:bodyPr>
            <a:lstStyle/>
            <a:p>
              <a:pPr algn="ctr">
                <a:lnSpc>
                  <a:spcPts val="3991"/>
                </a:lnSpc>
              </a:pPr>
              <a:r>
                <a:rPr lang="en-US" sz="3070" b="1">
                  <a:solidFill>
                    <a:srgbClr val="000000"/>
                  </a:solidFill>
                  <a:latin typeface="Saira Bold"/>
                  <a:ea typeface="Saira Bold"/>
                  <a:cs typeface="Saira Bold"/>
                  <a:sym typeface="Saira Bold"/>
                </a:rPr>
                <a:t>Đánh giá &amp; Phản hồi</a:t>
              </a:r>
            </a:p>
          </p:txBody>
        </p:sp>
        <p:sp>
          <p:nvSpPr>
            <p:cNvPr id="55" name="TextBox 55"/>
            <p:cNvSpPr txBox="1"/>
            <p:nvPr/>
          </p:nvSpPr>
          <p:spPr>
            <a:xfrm>
              <a:off x="5768183" y="11667800"/>
              <a:ext cx="2805780" cy="1276243"/>
            </a:xfrm>
            <a:prstGeom prst="rect">
              <a:avLst/>
            </a:prstGeom>
          </p:spPr>
          <p:txBody>
            <a:bodyPr lIns="0" tIns="0" rIns="0" bIns="0" rtlCol="0" anchor="t">
              <a:spAutoFit/>
            </a:bodyPr>
            <a:lstStyle/>
            <a:p>
              <a:pPr algn="ctr">
                <a:lnSpc>
                  <a:spcPts val="3991"/>
                </a:lnSpc>
              </a:pPr>
              <a:r>
                <a:rPr lang="en-US" sz="3070" b="1">
                  <a:solidFill>
                    <a:srgbClr val="000000"/>
                  </a:solidFill>
                  <a:latin typeface="Saira Bold"/>
                  <a:ea typeface="Saira Bold"/>
                  <a:cs typeface="Saira Bold"/>
                  <a:sym typeface="Saira Bold"/>
                </a:rPr>
                <a:t>Thông báo real-time</a:t>
              </a:r>
            </a:p>
          </p:txBody>
        </p:sp>
        <p:sp>
          <p:nvSpPr>
            <p:cNvPr id="56" name="TextBox 56"/>
            <p:cNvSpPr txBox="1"/>
            <p:nvPr/>
          </p:nvSpPr>
          <p:spPr>
            <a:xfrm>
              <a:off x="10238552" y="11667800"/>
              <a:ext cx="2805780" cy="1276243"/>
            </a:xfrm>
            <a:prstGeom prst="rect">
              <a:avLst/>
            </a:prstGeom>
          </p:spPr>
          <p:txBody>
            <a:bodyPr lIns="0" tIns="0" rIns="0" bIns="0" rtlCol="0" anchor="t">
              <a:spAutoFit/>
            </a:bodyPr>
            <a:lstStyle/>
            <a:p>
              <a:pPr algn="ctr">
                <a:lnSpc>
                  <a:spcPts val="3991"/>
                </a:lnSpc>
              </a:pPr>
              <a:r>
                <a:rPr lang="en-US" sz="3070" b="1">
                  <a:solidFill>
                    <a:srgbClr val="000000"/>
                  </a:solidFill>
                  <a:latin typeface="Saira Bold"/>
                  <a:ea typeface="Saira Bold"/>
                  <a:cs typeface="Saira Bold"/>
                  <a:sym typeface="Saira Bold"/>
                </a:rPr>
                <a:t>Chatbot AI hỗ trợ</a:t>
              </a:r>
            </a:p>
          </p:txBody>
        </p:sp>
      </p:grpSp>
      <p:sp>
        <p:nvSpPr>
          <p:cNvPr id="2" name="Freeform 2"/>
          <p:cNvSpPr/>
          <p:nvPr/>
        </p:nvSpPr>
        <p:spPr>
          <a:xfrm flipV="1">
            <a:off x="11498189" y="-411983"/>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 name="Freeform 3"/>
          <p:cNvSpPr/>
          <p:nvPr/>
        </p:nvSpPr>
        <p:spPr>
          <a:xfrm rot="5400000" flipH="1" flipV="1">
            <a:off x="2266625" y="3868423"/>
            <a:ext cx="4328516" cy="10274279"/>
          </a:xfrm>
          <a:custGeom>
            <a:avLst/>
            <a:gdLst/>
            <a:ahLst/>
            <a:cxnLst/>
            <a:rect l="l" t="t" r="r" b="b"/>
            <a:pathLst>
              <a:path w="4328516" h="10274279">
                <a:moveTo>
                  <a:pt x="4328516" y="10274279"/>
                </a:moveTo>
                <a:lnTo>
                  <a:pt x="0" y="10274279"/>
                </a:lnTo>
                <a:lnTo>
                  <a:pt x="0" y="0"/>
                </a:lnTo>
                <a:lnTo>
                  <a:pt x="4328516" y="0"/>
                </a:lnTo>
                <a:lnTo>
                  <a:pt x="4328516" y="10274279"/>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4" name="Freeform 4"/>
          <p:cNvSpPr/>
          <p:nvPr/>
        </p:nvSpPr>
        <p:spPr>
          <a:xfrm rot="-5501588" flipH="1">
            <a:off x="2169719" y="-2623418"/>
            <a:ext cx="3052704" cy="5246835"/>
          </a:xfrm>
          <a:custGeom>
            <a:avLst/>
            <a:gdLst/>
            <a:ahLst/>
            <a:cxnLst/>
            <a:rect l="l" t="t" r="r" b="b"/>
            <a:pathLst>
              <a:path w="3052704" h="5246835">
                <a:moveTo>
                  <a:pt x="3052704" y="0"/>
                </a:moveTo>
                <a:lnTo>
                  <a:pt x="0" y="0"/>
                </a:lnTo>
                <a:lnTo>
                  <a:pt x="0" y="5246836"/>
                </a:lnTo>
                <a:lnTo>
                  <a:pt x="3052704" y="5246836"/>
                </a:lnTo>
                <a:lnTo>
                  <a:pt x="3052704"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5" name="Freeform 5"/>
          <p:cNvSpPr/>
          <p:nvPr/>
        </p:nvSpPr>
        <p:spPr>
          <a:xfrm rot="3839072" flipV="1">
            <a:off x="17094810" y="4108476"/>
            <a:ext cx="3543676" cy="3929479"/>
          </a:xfrm>
          <a:custGeom>
            <a:avLst/>
            <a:gdLst/>
            <a:ahLst/>
            <a:cxnLst/>
            <a:rect l="l" t="t" r="r" b="b"/>
            <a:pathLst>
              <a:path w="3543676" h="3929479">
                <a:moveTo>
                  <a:pt x="0" y="3929479"/>
                </a:moveTo>
                <a:lnTo>
                  <a:pt x="3543675" y="3929479"/>
                </a:lnTo>
                <a:lnTo>
                  <a:pt x="3543675" y="0"/>
                </a:lnTo>
                <a:lnTo>
                  <a:pt x="0" y="0"/>
                </a:lnTo>
                <a:lnTo>
                  <a:pt x="0" y="3929479"/>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6" name="TextBox 6"/>
          <p:cNvSpPr txBox="1"/>
          <p:nvPr/>
        </p:nvSpPr>
        <p:spPr>
          <a:xfrm>
            <a:off x="5227909" y="382260"/>
            <a:ext cx="7832182" cy="646440"/>
          </a:xfrm>
          <a:prstGeom prst="rect">
            <a:avLst/>
          </a:prstGeom>
        </p:spPr>
        <p:txBody>
          <a:bodyPr lIns="0" tIns="0" rIns="0" bIns="0" rtlCol="0" anchor="t">
            <a:spAutoFit/>
          </a:bodyPr>
          <a:lstStyle/>
          <a:p>
            <a:pPr marL="0" lvl="0" indent="0" algn="ctr">
              <a:lnSpc>
                <a:spcPts val="5180"/>
              </a:lnSpc>
              <a:spcBef>
                <a:spcPct val="0"/>
              </a:spcBef>
            </a:pPr>
            <a:r>
              <a:rPr lang="en-US" sz="4245" b="1" dirty="0">
                <a:solidFill>
                  <a:srgbClr val="1250A1"/>
                </a:solidFill>
                <a:latin typeface="Times New Roman" panose="02020603050405020304" pitchFamily="18" charset="0"/>
                <a:ea typeface="Garet Bold"/>
                <a:cs typeface="Times New Roman" panose="02020603050405020304" pitchFamily="18" charset="0"/>
                <a:sym typeface="Garet Bold"/>
              </a:rPr>
              <a:t>CÁC CHỨC NĂNG CHÍNH</a:t>
            </a:r>
          </a:p>
        </p:txBody>
      </p:sp>
      <p:sp>
        <p:nvSpPr>
          <p:cNvPr id="7" name="TextBox 7"/>
          <p:cNvSpPr txBox="1"/>
          <p:nvPr/>
        </p:nvSpPr>
        <p:spPr>
          <a:xfrm>
            <a:off x="16501627" y="8976988"/>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2085349" y="-787766"/>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flipV="1">
            <a:off x="1139277" y="4121161"/>
            <a:ext cx="4328516" cy="10274279"/>
          </a:xfrm>
          <a:custGeom>
            <a:avLst/>
            <a:gdLst/>
            <a:ahLst/>
            <a:cxnLst/>
            <a:rect l="l" t="t" r="r" b="b"/>
            <a:pathLst>
              <a:path w="4328516" h="10274279">
                <a:moveTo>
                  <a:pt x="4328515" y="10274278"/>
                </a:moveTo>
                <a:lnTo>
                  <a:pt x="0" y="10274278"/>
                </a:lnTo>
                <a:lnTo>
                  <a:pt x="0" y="0"/>
                </a:lnTo>
                <a:lnTo>
                  <a:pt x="4328515" y="0"/>
                </a:lnTo>
                <a:lnTo>
                  <a:pt x="4328515" y="1027427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501588" flipH="1">
            <a:off x="1777182" y="-3197917"/>
            <a:ext cx="3052704" cy="5246835"/>
          </a:xfrm>
          <a:custGeom>
            <a:avLst/>
            <a:gdLst/>
            <a:ahLst/>
            <a:cxnLst/>
            <a:rect l="l" t="t" r="r" b="b"/>
            <a:pathLst>
              <a:path w="3052704" h="5246835">
                <a:moveTo>
                  <a:pt x="3052705" y="0"/>
                </a:moveTo>
                <a:lnTo>
                  <a:pt x="0" y="0"/>
                </a:lnTo>
                <a:lnTo>
                  <a:pt x="0" y="5246836"/>
                </a:lnTo>
                <a:lnTo>
                  <a:pt x="3052705" y="5246836"/>
                </a:lnTo>
                <a:lnTo>
                  <a:pt x="305270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839072" flipV="1">
            <a:off x="14763372" y="9252003"/>
            <a:ext cx="3543676" cy="3929479"/>
          </a:xfrm>
          <a:custGeom>
            <a:avLst/>
            <a:gdLst/>
            <a:ahLst/>
            <a:cxnLst/>
            <a:rect l="l" t="t" r="r" b="b"/>
            <a:pathLst>
              <a:path w="3543676" h="3929479">
                <a:moveTo>
                  <a:pt x="0" y="3929479"/>
                </a:moveTo>
                <a:lnTo>
                  <a:pt x="3543675" y="3929479"/>
                </a:lnTo>
                <a:lnTo>
                  <a:pt x="3543675" y="0"/>
                </a:lnTo>
                <a:lnTo>
                  <a:pt x="0" y="0"/>
                </a:lnTo>
                <a:lnTo>
                  <a:pt x="0" y="3929479"/>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827238" y="1028700"/>
            <a:ext cx="14000615" cy="8550462"/>
          </a:xfrm>
          <a:custGeom>
            <a:avLst/>
            <a:gdLst/>
            <a:ahLst/>
            <a:cxnLst/>
            <a:rect l="l" t="t" r="r" b="b"/>
            <a:pathLst>
              <a:path w="14000615" h="8550462">
                <a:moveTo>
                  <a:pt x="0" y="0"/>
                </a:moveTo>
                <a:lnTo>
                  <a:pt x="14000616" y="0"/>
                </a:lnTo>
                <a:lnTo>
                  <a:pt x="14000616" y="8550462"/>
                </a:lnTo>
                <a:lnTo>
                  <a:pt x="0" y="8550462"/>
                </a:lnTo>
                <a:lnTo>
                  <a:pt x="0" y="0"/>
                </a:lnTo>
                <a:close/>
              </a:path>
            </a:pathLst>
          </a:custGeom>
          <a:blipFill>
            <a:blip r:embed="rId6"/>
            <a:stretch>
              <a:fillRect b="-9160"/>
            </a:stretch>
          </a:blipFill>
        </p:spPr>
        <p:txBody>
          <a:bodyPr/>
          <a:lstStyle/>
          <a:p>
            <a:endParaRPr lang="en-US"/>
          </a:p>
        </p:txBody>
      </p:sp>
      <p:sp>
        <p:nvSpPr>
          <p:cNvPr id="7" name="TextBox 7"/>
          <p:cNvSpPr txBox="1"/>
          <p:nvPr/>
        </p:nvSpPr>
        <p:spPr>
          <a:xfrm>
            <a:off x="5227909" y="382260"/>
            <a:ext cx="7832182" cy="646440"/>
          </a:xfrm>
          <a:prstGeom prst="rect">
            <a:avLst/>
          </a:prstGeom>
        </p:spPr>
        <p:txBody>
          <a:bodyPr lIns="0" tIns="0" rIns="0" bIns="0" rtlCol="0" anchor="t">
            <a:spAutoFit/>
          </a:bodyPr>
          <a:lstStyle/>
          <a:p>
            <a:pPr marL="0" lvl="0" indent="0" algn="ctr">
              <a:lnSpc>
                <a:spcPts val="5180"/>
              </a:lnSpc>
              <a:spcBef>
                <a:spcPct val="0"/>
              </a:spcBef>
            </a:pPr>
            <a:r>
              <a:rPr lang="en-US" sz="4245" b="1" dirty="0">
                <a:solidFill>
                  <a:srgbClr val="1250A1"/>
                </a:solidFill>
                <a:latin typeface="Times New Roman" panose="02020603050405020304" pitchFamily="18" charset="0"/>
                <a:ea typeface="Garet Bold"/>
                <a:cs typeface="Times New Roman" panose="02020603050405020304" pitchFamily="18" charset="0"/>
                <a:sym typeface="Garet Bold"/>
              </a:rPr>
              <a:t>QUY TRÌNH ĐẶT SÂN</a:t>
            </a:r>
          </a:p>
        </p:txBody>
      </p:sp>
      <p:sp>
        <p:nvSpPr>
          <p:cNvPr id="8" name="TextBox 8"/>
          <p:cNvSpPr txBox="1"/>
          <p:nvPr/>
        </p:nvSpPr>
        <p:spPr>
          <a:xfrm>
            <a:off x="16703575" y="8734099"/>
            <a:ext cx="757673"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2085349" y="-787766"/>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flipV="1">
            <a:off x="1139277" y="4121161"/>
            <a:ext cx="4328516" cy="10274279"/>
          </a:xfrm>
          <a:custGeom>
            <a:avLst/>
            <a:gdLst/>
            <a:ahLst/>
            <a:cxnLst/>
            <a:rect l="l" t="t" r="r" b="b"/>
            <a:pathLst>
              <a:path w="4328516" h="10274279">
                <a:moveTo>
                  <a:pt x="4328515" y="10274278"/>
                </a:moveTo>
                <a:lnTo>
                  <a:pt x="0" y="10274278"/>
                </a:lnTo>
                <a:lnTo>
                  <a:pt x="0" y="0"/>
                </a:lnTo>
                <a:lnTo>
                  <a:pt x="4328515" y="0"/>
                </a:lnTo>
                <a:lnTo>
                  <a:pt x="4328515" y="1027427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501588" flipH="1">
            <a:off x="1777182" y="-3197917"/>
            <a:ext cx="3052704" cy="5246835"/>
          </a:xfrm>
          <a:custGeom>
            <a:avLst/>
            <a:gdLst/>
            <a:ahLst/>
            <a:cxnLst/>
            <a:rect l="l" t="t" r="r" b="b"/>
            <a:pathLst>
              <a:path w="3052704" h="5246835">
                <a:moveTo>
                  <a:pt x="3052705" y="0"/>
                </a:moveTo>
                <a:lnTo>
                  <a:pt x="0" y="0"/>
                </a:lnTo>
                <a:lnTo>
                  <a:pt x="0" y="5246836"/>
                </a:lnTo>
                <a:lnTo>
                  <a:pt x="3052705" y="5246836"/>
                </a:lnTo>
                <a:lnTo>
                  <a:pt x="305270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839072" flipV="1">
            <a:off x="14763372" y="9252003"/>
            <a:ext cx="3543676" cy="3929479"/>
          </a:xfrm>
          <a:custGeom>
            <a:avLst/>
            <a:gdLst/>
            <a:ahLst/>
            <a:cxnLst/>
            <a:rect l="l" t="t" r="r" b="b"/>
            <a:pathLst>
              <a:path w="3543676" h="3929479">
                <a:moveTo>
                  <a:pt x="0" y="3929479"/>
                </a:moveTo>
                <a:lnTo>
                  <a:pt x="3543675" y="3929479"/>
                </a:lnTo>
                <a:lnTo>
                  <a:pt x="3543675" y="0"/>
                </a:lnTo>
                <a:lnTo>
                  <a:pt x="0" y="0"/>
                </a:lnTo>
                <a:lnTo>
                  <a:pt x="0" y="3929479"/>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2581111" y="1177008"/>
            <a:ext cx="13672643" cy="9109992"/>
          </a:xfrm>
          <a:custGeom>
            <a:avLst/>
            <a:gdLst/>
            <a:ahLst/>
            <a:cxnLst/>
            <a:rect l="l" t="t" r="r" b="b"/>
            <a:pathLst>
              <a:path w="13672643" h="9109992">
                <a:moveTo>
                  <a:pt x="0" y="0"/>
                </a:moveTo>
                <a:lnTo>
                  <a:pt x="13672643" y="0"/>
                </a:lnTo>
                <a:lnTo>
                  <a:pt x="13672643" y="9109992"/>
                </a:lnTo>
                <a:lnTo>
                  <a:pt x="0" y="9109992"/>
                </a:lnTo>
                <a:lnTo>
                  <a:pt x="0" y="0"/>
                </a:lnTo>
                <a:close/>
              </a:path>
            </a:pathLst>
          </a:custGeom>
          <a:blipFill>
            <a:blip r:embed="rId6"/>
            <a:stretch>
              <a:fillRect/>
            </a:stretch>
          </a:blipFill>
        </p:spPr>
        <p:txBody>
          <a:bodyPr/>
          <a:lstStyle/>
          <a:p>
            <a:endParaRPr lang="en-US"/>
          </a:p>
        </p:txBody>
      </p:sp>
      <p:sp>
        <p:nvSpPr>
          <p:cNvPr id="7" name="TextBox 7"/>
          <p:cNvSpPr txBox="1"/>
          <p:nvPr/>
        </p:nvSpPr>
        <p:spPr>
          <a:xfrm>
            <a:off x="5227909" y="382260"/>
            <a:ext cx="7832182" cy="646440"/>
          </a:xfrm>
          <a:prstGeom prst="rect">
            <a:avLst/>
          </a:prstGeom>
        </p:spPr>
        <p:txBody>
          <a:bodyPr lIns="0" tIns="0" rIns="0" bIns="0" rtlCol="0" anchor="t">
            <a:spAutoFit/>
          </a:bodyPr>
          <a:lstStyle/>
          <a:p>
            <a:pPr marL="0" lvl="0" indent="0" algn="ctr">
              <a:lnSpc>
                <a:spcPts val="5180"/>
              </a:lnSpc>
              <a:spcBef>
                <a:spcPct val="0"/>
              </a:spcBef>
            </a:pPr>
            <a:r>
              <a:rPr lang="en-US" sz="4245" b="1" dirty="0">
                <a:solidFill>
                  <a:srgbClr val="1250A1"/>
                </a:solidFill>
                <a:latin typeface="Times New Roman" panose="02020603050405020304" pitchFamily="18" charset="0"/>
                <a:ea typeface="Garet Bold"/>
                <a:cs typeface="Times New Roman" panose="02020603050405020304" pitchFamily="18" charset="0"/>
                <a:sym typeface="Garet Bold"/>
              </a:rPr>
              <a:t>QUY TRÌNH THANH TOÁN</a:t>
            </a:r>
          </a:p>
        </p:txBody>
      </p:sp>
      <p:sp>
        <p:nvSpPr>
          <p:cNvPr id="8" name="TextBox 8"/>
          <p:cNvSpPr txBox="1"/>
          <p:nvPr/>
        </p:nvSpPr>
        <p:spPr>
          <a:xfrm>
            <a:off x="16656603" y="8595591"/>
            <a:ext cx="1156942"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2085349" y="-787766"/>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flipV="1">
            <a:off x="1139277" y="4121161"/>
            <a:ext cx="4328516" cy="10274279"/>
          </a:xfrm>
          <a:custGeom>
            <a:avLst/>
            <a:gdLst/>
            <a:ahLst/>
            <a:cxnLst/>
            <a:rect l="l" t="t" r="r" b="b"/>
            <a:pathLst>
              <a:path w="4328516" h="10274279">
                <a:moveTo>
                  <a:pt x="4328515" y="10274278"/>
                </a:moveTo>
                <a:lnTo>
                  <a:pt x="0" y="10274278"/>
                </a:lnTo>
                <a:lnTo>
                  <a:pt x="0" y="0"/>
                </a:lnTo>
                <a:lnTo>
                  <a:pt x="4328515" y="0"/>
                </a:lnTo>
                <a:lnTo>
                  <a:pt x="4328515" y="1027427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501588" flipH="1">
            <a:off x="1777182" y="-3197917"/>
            <a:ext cx="3052704" cy="5246835"/>
          </a:xfrm>
          <a:custGeom>
            <a:avLst/>
            <a:gdLst/>
            <a:ahLst/>
            <a:cxnLst/>
            <a:rect l="l" t="t" r="r" b="b"/>
            <a:pathLst>
              <a:path w="3052704" h="5246835">
                <a:moveTo>
                  <a:pt x="3052705" y="0"/>
                </a:moveTo>
                <a:lnTo>
                  <a:pt x="0" y="0"/>
                </a:lnTo>
                <a:lnTo>
                  <a:pt x="0" y="5246836"/>
                </a:lnTo>
                <a:lnTo>
                  <a:pt x="3052705" y="5246836"/>
                </a:lnTo>
                <a:lnTo>
                  <a:pt x="3052705"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839072" flipV="1">
            <a:off x="14763372" y="9252003"/>
            <a:ext cx="3543676" cy="3929479"/>
          </a:xfrm>
          <a:custGeom>
            <a:avLst/>
            <a:gdLst/>
            <a:ahLst/>
            <a:cxnLst/>
            <a:rect l="l" t="t" r="r" b="b"/>
            <a:pathLst>
              <a:path w="3543676" h="3929479">
                <a:moveTo>
                  <a:pt x="0" y="3929479"/>
                </a:moveTo>
                <a:lnTo>
                  <a:pt x="3543675" y="3929479"/>
                </a:lnTo>
                <a:lnTo>
                  <a:pt x="3543675" y="0"/>
                </a:lnTo>
                <a:lnTo>
                  <a:pt x="0" y="0"/>
                </a:lnTo>
                <a:lnTo>
                  <a:pt x="0" y="3929479"/>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2626913" y="1413420"/>
            <a:ext cx="13034174" cy="8689450"/>
          </a:xfrm>
          <a:custGeom>
            <a:avLst/>
            <a:gdLst/>
            <a:ahLst/>
            <a:cxnLst/>
            <a:rect l="l" t="t" r="r" b="b"/>
            <a:pathLst>
              <a:path w="13034174" h="8689450">
                <a:moveTo>
                  <a:pt x="0" y="0"/>
                </a:moveTo>
                <a:lnTo>
                  <a:pt x="13034174" y="0"/>
                </a:lnTo>
                <a:lnTo>
                  <a:pt x="13034174" y="8689450"/>
                </a:lnTo>
                <a:lnTo>
                  <a:pt x="0" y="8689450"/>
                </a:lnTo>
                <a:lnTo>
                  <a:pt x="0" y="0"/>
                </a:lnTo>
                <a:close/>
              </a:path>
            </a:pathLst>
          </a:custGeom>
          <a:blipFill>
            <a:blip r:embed="rId6"/>
            <a:stretch>
              <a:fillRect/>
            </a:stretch>
          </a:blipFill>
        </p:spPr>
        <p:txBody>
          <a:bodyPr/>
          <a:lstStyle/>
          <a:p>
            <a:endParaRPr lang="en-US"/>
          </a:p>
        </p:txBody>
      </p:sp>
      <p:sp>
        <p:nvSpPr>
          <p:cNvPr id="7" name="TextBox 7"/>
          <p:cNvSpPr txBox="1"/>
          <p:nvPr/>
        </p:nvSpPr>
        <p:spPr>
          <a:xfrm>
            <a:off x="5227909" y="382260"/>
            <a:ext cx="9935891" cy="627672"/>
          </a:xfrm>
          <a:prstGeom prst="rect">
            <a:avLst/>
          </a:prstGeom>
        </p:spPr>
        <p:txBody>
          <a:bodyPr wrap="square" lIns="0" tIns="0" rIns="0" bIns="0" rtlCol="0" anchor="t">
            <a:spAutoFit/>
          </a:bodyPr>
          <a:lstStyle/>
          <a:p>
            <a:pPr marL="0" lvl="0" indent="0" algn="ctr">
              <a:lnSpc>
                <a:spcPts val="5180"/>
              </a:lnSpc>
              <a:spcBef>
                <a:spcPct val="0"/>
              </a:spcBef>
            </a:pPr>
            <a:r>
              <a:rPr lang="en-US" sz="4245" b="1" dirty="0">
                <a:solidFill>
                  <a:srgbClr val="1250A1"/>
                </a:solidFill>
                <a:latin typeface="Times New Roman" panose="02020603050405020304" pitchFamily="18" charset="0"/>
                <a:ea typeface="Garet Bold"/>
                <a:cs typeface="Times New Roman" panose="02020603050405020304" pitchFamily="18" charset="0"/>
                <a:sym typeface="Garet Bold"/>
              </a:rPr>
              <a:t>QUY TRÌNH ĐÁNH GIÁ VÀ PHẢN HỒI</a:t>
            </a:r>
          </a:p>
        </p:txBody>
      </p:sp>
      <p:sp>
        <p:nvSpPr>
          <p:cNvPr id="8" name="TextBox 8"/>
          <p:cNvSpPr txBox="1"/>
          <p:nvPr/>
        </p:nvSpPr>
        <p:spPr>
          <a:xfrm>
            <a:off x="16656603" y="8595591"/>
            <a:ext cx="1156942"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1469156" y="-1338726"/>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501588" flipH="1">
            <a:off x="971911" y="-3050876"/>
            <a:ext cx="3052704" cy="5246835"/>
          </a:xfrm>
          <a:custGeom>
            <a:avLst/>
            <a:gdLst/>
            <a:ahLst/>
            <a:cxnLst/>
            <a:rect l="l" t="t" r="r" b="b"/>
            <a:pathLst>
              <a:path w="3052704" h="5246835">
                <a:moveTo>
                  <a:pt x="3052704" y="0"/>
                </a:moveTo>
                <a:lnTo>
                  <a:pt x="0" y="0"/>
                </a:lnTo>
                <a:lnTo>
                  <a:pt x="0" y="5246835"/>
                </a:lnTo>
                <a:lnTo>
                  <a:pt x="3052704" y="5246835"/>
                </a:lnTo>
                <a:lnTo>
                  <a:pt x="305270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258625" y="710207"/>
            <a:ext cx="5770751" cy="636986"/>
          </a:xfrm>
          <a:prstGeom prst="rect">
            <a:avLst/>
          </a:prstGeom>
        </p:spPr>
        <p:txBody>
          <a:bodyPr lIns="0" tIns="0" rIns="0" bIns="0" rtlCol="0" anchor="t">
            <a:spAutoFit/>
          </a:bodyPr>
          <a:lstStyle/>
          <a:p>
            <a:pPr marL="0" lvl="0" indent="0" algn="ctr">
              <a:lnSpc>
                <a:spcPts val="5145"/>
              </a:lnSpc>
              <a:spcBef>
                <a:spcPct val="0"/>
              </a:spcBef>
            </a:pPr>
            <a:r>
              <a:rPr lang="en-US" sz="4218" b="1" dirty="0">
                <a:solidFill>
                  <a:srgbClr val="1250A1"/>
                </a:solidFill>
                <a:latin typeface="Times New Roman" panose="02020603050405020304" pitchFamily="18" charset="0"/>
                <a:ea typeface="Garet Bold"/>
                <a:cs typeface="Times New Roman" panose="02020603050405020304" pitchFamily="18" charset="0"/>
                <a:sym typeface="Garet Bold"/>
              </a:rPr>
              <a:t>MỘT SỐ GIAO DIỆN</a:t>
            </a:r>
          </a:p>
        </p:txBody>
      </p:sp>
      <p:sp>
        <p:nvSpPr>
          <p:cNvPr id="5" name="Freeform 5"/>
          <p:cNvSpPr/>
          <p:nvPr/>
        </p:nvSpPr>
        <p:spPr>
          <a:xfrm>
            <a:off x="845245" y="1575146"/>
            <a:ext cx="8115300" cy="3891080"/>
          </a:xfrm>
          <a:custGeom>
            <a:avLst/>
            <a:gdLst/>
            <a:ahLst/>
            <a:cxnLst/>
            <a:rect l="l" t="t" r="r" b="b"/>
            <a:pathLst>
              <a:path w="8115300" h="3891080">
                <a:moveTo>
                  <a:pt x="0" y="0"/>
                </a:moveTo>
                <a:lnTo>
                  <a:pt x="8115300" y="0"/>
                </a:lnTo>
                <a:lnTo>
                  <a:pt x="8115300" y="3891080"/>
                </a:lnTo>
                <a:lnTo>
                  <a:pt x="0" y="3891080"/>
                </a:lnTo>
                <a:lnTo>
                  <a:pt x="0" y="0"/>
                </a:lnTo>
                <a:close/>
              </a:path>
            </a:pathLst>
          </a:custGeom>
          <a:blipFill>
            <a:blip r:embed="rId4"/>
            <a:stretch>
              <a:fillRect/>
            </a:stretch>
          </a:blipFill>
        </p:spPr>
        <p:txBody>
          <a:bodyPr/>
          <a:lstStyle/>
          <a:p>
            <a:endParaRPr lang="en-US"/>
          </a:p>
        </p:txBody>
      </p:sp>
      <p:sp>
        <p:nvSpPr>
          <p:cNvPr id="6" name="Freeform 6"/>
          <p:cNvSpPr/>
          <p:nvPr/>
        </p:nvSpPr>
        <p:spPr>
          <a:xfrm>
            <a:off x="9144000" y="5786582"/>
            <a:ext cx="8115300" cy="3873312"/>
          </a:xfrm>
          <a:custGeom>
            <a:avLst/>
            <a:gdLst/>
            <a:ahLst/>
            <a:cxnLst/>
            <a:rect l="l" t="t" r="r" b="b"/>
            <a:pathLst>
              <a:path w="8115300" h="3873312">
                <a:moveTo>
                  <a:pt x="0" y="0"/>
                </a:moveTo>
                <a:lnTo>
                  <a:pt x="8115300" y="0"/>
                </a:lnTo>
                <a:lnTo>
                  <a:pt x="8115300" y="3873312"/>
                </a:lnTo>
                <a:lnTo>
                  <a:pt x="0" y="3873312"/>
                </a:lnTo>
                <a:lnTo>
                  <a:pt x="0" y="0"/>
                </a:lnTo>
                <a:close/>
              </a:path>
            </a:pathLst>
          </a:custGeom>
          <a:blipFill>
            <a:blip r:embed="rId5"/>
            <a:stretch>
              <a:fillRect/>
            </a:stretch>
          </a:blipFill>
        </p:spPr>
        <p:txBody>
          <a:bodyPr/>
          <a:lstStyle/>
          <a:p>
            <a:endParaRPr lang="en-US"/>
          </a:p>
        </p:txBody>
      </p:sp>
      <p:sp>
        <p:nvSpPr>
          <p:cNvPr id="7" name="Freeform 7"/>
          <p:cNvSpPr/>
          <p:nvPr/>
        </p:nvSpPr>
        <p:spPr>
          <a:xfrm>
            <a:off x="845245" y="5694178"/>
            <a:ext cx="8115300" cy="3965716"/>
          </a:xfrm>
          <a:custGeom>
            <a:avLst/>
            <a:gdLst/>
            <a:ahLst/>
            <a:cxnLst/>
            <a:rect l="l" t="t" r="r" b="b"/>
            <a:pathLst>
              <a:path w="8115300" h="3965716">
                <a:moveTo>
                  <a:pt x="0" y="0"/>
                </a:moveTo>
                <a:lnTo>
                  <a:pt x="8115300" y="0"/>
                </a:lnTo>
                <a:lnTo>
                  <a:pt x="8115300" y="3965716"/>
                </a:lnTo>
                <a:lnTo>
                  <a:pt x="0" y="3965716"/>
                </a:lnTo>
                <a:lnTo>
                  <a:pt x="0" y="0"/>
                </a:lnTo>
                <a:close/>
              </a:path>
            </a:pathLst>
          </a:custGeom>
          <a:blipFill>
            <a:blip r:embed="rId6"/>
            <a:stretch>
              <a:fillRect r="-2317"/>
            </a:stretch>
          </a:blipFill>
        </p:spPr>
        <p:txBody>
          <a:bodyPr/>
          <a:lstStyle/>
          <a:p>
            <a:endParaRPr lang="en-US"/>
          </a:p>
        </p:txBody>
      </p:sp>
      <p:sp>
        <p:nvSpPr>
          <p:cNvPr id="8" name="Freeform 8"/>
          <p:cNvSpPr/>
          <p:nvPr/>
        </p:nvSpPr>
        <p:spPr>
          <a:xfrm>
            <a:off x="9144000" y="1816771"/>
            <a:ext cx="8115300" cy="3877408"/>
          </a:xfrm>
          <a:custGeom>
            <a:avLst/>
            <a:gdLst/>
            <a:ahLst/>
            <a:cxnLst/>
            <a:rect l="l" t="t" r="r" b="b"/>
            <a:pathLst>
              <a:path w="8115300" h="3877408">
                <a:moveTo>
                  <a:pt x="0" y="0"/>
                </a:moveTo>
                <a:lnTo>
                  <a:pt x="8115300" y="0"/>
                </a:lnTo>
                <a:lnTo>
                  <a:pt x="8115300" y="3877407"/>
                </a:lnTo>
                <a:lnTo>
                  <a:pt x="0" y="3877407"/>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17131058" y="9116969"/>
            <a:ext cx="1156942"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V="1">
            <a:off x="-3248905" y="-139468"/>
            <a:ext cx="9651286" cy="7559332"/>
          </a:xfrm>
          <a:custGeom>
            <a:avLst/>
            <a:gdLst/>
            <a:ahLst/>
            <a:cxnLst/>
            <a:rect l="l" t="t" r="r" b="b"/>
            <a:pathLst>
              <a:path w="9651286" h="7559332">
                <a:moveTo>
                  <a:pt x="0" y="7559332"/>
                </a:moveTo>
                <a:lnTo>
                  <a:pt x="9651287" y="7559332"/>
                </a:lnTo>
                <a:lnTo>
                  <a:pt x="9651287"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a:off x="11679037" y="3517616"/>
            <a:ext cx="9651286" cy="7559332"/>
          </a:xfrm>
          <a:custGeom>
            <a:avLst/>
            <a:gdLst/>
            <a:ahLst/>
            <a:cxnLst/>
            <a:rect l="l" t="t" r="r" b="b"/>
            <a:pathLst>
              <a:path w="9651286" h="7559332">
                <a:moveTo>
                  <a:pt x="9651286" y="0"/>
                </a:moveTo>
                <a:lnTo>
                  <a:pt x="0" y="0"/>
                </a:lnTo>
                <a:lnTo>
                  <a:pt x="0" y="7559332"/>
                </a:lnTo>
                <a:lnTo>
                  <a:pt x="9651286" y="7559332"/>
                </a:lnTo>
                <a:lnTo>
                  <a:pt x="965128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0321024" flipV="1">
            <a:off x="14451584" y="-3638832"/>
            <a:ext cx="4106193" cy="4553238"/>
          </a:xfrm>
          <a:custGeom>
            <a:avLst/>
            <a:gdLst/>
            <a:ahLst/>
            <a:cxnLst/>
            <a:rect l="l" t="t" r="r" b="b"/>
            <a:pathLst>
              <a:path w="4106193" h="4553238">
                <a:moveTo>
                  <a:pt x="0" y="4553238"/>
                </a:moveTo>
                <a:lnTo>
                  <a:pt x="4106193" y="4553238"/>
                </a:lnTo>
                <a:lnTo>
                  <a:pt x="4106193" y="0"/>
                </a:lnTo>
                <a:lnTo>
                  <a:pt x="0" y="0"/>
                </a:lnTo>
                <a:lnTo>
                  <a:pt x="0" y="455323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576738" y="1648712"/>
            <a:ext cx="15682562" cy="7006022"/>
          </a:xfrm>
          <a:prstGeom prst="rect">
            <a:avLst/>
          </a:prstGeom>
        </p:spPr>
        <p:txBody>
          <a:bodyPr lIns="0" tIns="0" rIns="0" bIns="0" rtlCol="0" anchor="t">
            <a:spAutoFit/>
          </a:bodyPr>
          <a:lstStyle/>
          <a:p>
            <a:pPr algn="l">
              <a:lnSpc>
                <a:spcPts val="5047"/>
              </a:lnSpc>
            </a:pPr>
            <a:endParaRPr/>
          </a:p>
          <a:p>
            <a:pPr marL="726481" lvl="1" indent="-363241" algn="l">
              <a:lnSpc>
                <a:spcPts val="5047"/>
              </a:lnSpc>
              <a:buFont typeface="Arial"/>
              <a:buChar char="•"/>
            </a:pPr>
            <a:r>
              <a:rPr lang="en-US" sz="3364">
                <a:solidFill>
                  <a:srgbClr val="000000"/>
                </a:solidFill>
                <a:latin typeface="Public Sans"/>
                <a:ea typeface="Public Sans"/>
                <a:cs typeface="Public Sans"/>
                <a:sym typeface="Public Sans"/>
              </a:rPr>
              <a:t>Hoàn thành hệ thống quản lý và đặt sân thể thao trực tuyến theo mục tiêu đề ra.</a:t>
            </a:r>
          </a:p>
          <a:p>
            <a:pPr marL="726481" lvl="1" indent="-363241" algn="l">
              <a:lnSpc>
                <a:spcPts val="5047"/>
              </a:lnSpc>
              <a:buFont typeface="Arial"/>
              <a:buChar char="•"/>
            </a:pPr>
            <a:r>
              <a:rPr lang="en-US" sz="3364">
                <a:solidFill>
                  <a:srgbClr val="000000"/>
                </a:solidFill>
                <a:latin typeface="Public Sans"/>
                <a:ea typeface="Public Sans"/>
                <a:cs typeface="Public Sans"/>
                <a:sym typeface="Public Sans"/>
              </a:rPr>
              <a:t>Triển khai đầy đủ các chức năng cho ba nhóm người dùng: Khách hàng, Chủ sân và Quản trị viên.</a:t>
            </a:r>
          </a:p>
          <a:p>
            <a:pPr marL="726481" lvl="1" indent="-363241" algn="l">
              <a:lnSpc>
                <a:spcPts val="5047"/>
              </a:lnSpc>
              <a:buFont typeface="Arial"/>
              <a:buChar char="•"/>
            </a:pPr>
            <a:r>
              <a:rPr lang="en-US" sz="3364">
                <a:solidFill>
                  <a:srgbClr val="000000"/>
                </a:solidFill>
                <a:latin typeface="Public Sans"/>
                <a:ea typeface="Public Sans"/>
                <a:cs typeface="Public Sans"/>
                <a:sym typeface="Public Sans"/>
              </a:rPr>
              <a:t>Tích hợp thành công các công nghệ như JWT Authentication, Redis, SignalR, OpenStreetMap và Google Gemini AI.</a:t>
            </a:r>
          </a:p>
          <a:p>
            <a:pPr marL="726481" lvl="1" indent="-363241" algn="l">
              <a:lnSpc>
                <a:spcPts val="5047"/>
              </a:lnSpc>
              <a:buFont typeface="Arial"/>
              <a:buChar char="•"/>
            </a:pPr>
            <a:r>
              <a:rPr lang="en-US" sz="3364">
                <a:solidFill>
                  <a:srgbClr val="000000"/>
                </a:solidFill>
                <a:latin typeface="Public Sans"/>
                <a:ea typeface="Public Sans"/>
                <a:cs typeface="Public Sans"/>
                <a:sym typeface="Public Sans"/>
              </a:rPr>
              <a:t>Đảm bảo xử lý đồng thời và ngăn chặn hiệu quả tình trạng đặt trùng sân bằng Redis Distributed Lock kết hợp Database Transaction.</a:t>
            </a:r>
          </a:p>
          <a:p>
            <a:pPr marL="726481" lvl="1" indent="-363241" algn="l">
              <a:lnSpc>
                <a:spcPts val="5047"/>
              </a:lnSpc>
              <a:buFont typeface="Arial"/>
              <a:buChar char="•"/>
            </a:pPr>
            <a:r>
              <a:rPr lang="en-US" sz="3364">
                <a:solidFill>
                  <a:srgbClr val="000000"/>
                </a:solidFill>
                <a:latin typeface="Public Sans"/>
                <a:ea typeface="Public Sans"/>
                <a:cs typeface="Public Sans"/>
                <a:sym typeface="Public Sans"/>
              </a:rPr>
              <a:t>Xây dựng giao diện trực quan, thân thiện và hỗ trợ quản lý, đặt sân, thanh toán trực tuyến hiệu quả.</a:t>
            </a:r>
          </a:p>
        </p:txBody>
      </p:sp>
      <p:sp>
        <p:nvSpPr>
          <p:cNvPr id="6" name="Freeform 6"/>
          <p:cNvSpPr/>
          <p:nvPr/>
        </p:nvSpPr>
        <p:spPr>
          <a:xfrm rot="-5501588">
            <a:off x="1846473" y="8037226"/>
            <a:ext cx="3052704" cy="5246835"/>
          </a:xfrm>
          <a:custGeom>
            <a:avLst/>
            <a:gdLst/>
            <a:ahLst/>
            <a:cxnLst/>
            <a:rect l="l" t="t" r="r" b="b"/>
            <a:pathLst>
              <a:path w="3052704" h="5246835">
                <a:moveTo>
                  <a:pt x="0" y="0"/>
                </a:moveTo>
                <a:lnTo>
                  <a:pt x="3052704" y="0"/>
                </a:lnTo>
                <a:lnTo>
                  <a:pt x="3052704" y="5246836"/>
                </a:lnTo>
                <a:lnTo>
                  <a:pt x="0" y="52468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6383833" y="927508"/>
            <a:ext cx="5520333" cy="636986"/>
          </a:xfrm>
          <a:prstGeom prst="rect">
            <a:avLst/>
          </a:prstGeom>
        </p:spPr>
        <p:txBody>
          <a:bodyPr lIns="0" tIns="0" rIns="0" bIns="0" rtlCol="0" anchor="t">
            <a:spAutoFit/>
          </a:bodyPr>
          <a:lstStyle/>
          <a:p>
            <a:pPr marL="0" lvl="0" indent="0" algn="ctr">
              <a:lnSpc>
                <a:spcPts val="5145"/>
              </a:lnSpc>
              <a:spcBef>
                <a:spcPct val="0"/>
              </a:spcBef>
            </a:pPr>
            <a:r>
              <a:rPr lang="en-US" sz="4218" b="1" u="none" strike="noStrike" dirty="0">
                <a:solidFill>
                  <a:srgbClr val="1250A1"/>
                </a:solidFill>
                <a:latin typeface="Times New Roman" panose="02020603050405020304" pitchFamily="18" charset="0"/>
                <a:ea typeface="Garet Bold"/>
                <a:cs typeface="Times New Roman" panose="02020603050405020304" pitchFamily="18" charset="0"/>
                <a:sym typeface="Garet Bold"/>
              </a:rPr>
              <a:t>KẾT QUẢ ĐẠT ĐƯỢC</a:t>
            </a:r>
          </a:p>
        </p:txBody>
      </p:sp>
      <p:sp>
        <p:nvSpPr>
          <p:cNvPr id="8" name="TextBox 8"/>
          <p:cNvSpPr txBox="1"/>
          <p:nvPr/>
        </p:nvSpPr>
        <p:spPr>
          <a:xfrm>
            <a:off x="15347738" y="9028870"/>
            <a:ext cx="1156942"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64563" y="-798538"/>
            <a:ext cx="9651286" cy="7559332"/>
          </a:xfrm>
          <a:custGeom>
            <a:avLst/>
            <a:gdLst/>
            <a:ahLst/>
            <a:cxnLst/>
            <a:rect l="l" t="t" r="r" b="b"/>
            <a:pathLst>
              <a:path w="9651286" h="7559332">
                <a:moveTo>
                  <a:pt x="0" y="7559331"/>
                </a:moveTo>
                <a:lnTo>
                  <a:pt x="9651286" y="7559331"/>
                </a:lnTo>
                <a:lnTo>
                  <a:pt x="9651286" y="0"/>
                </a:lnTo>
                <a:lnTo>
                  <a:pt x="0" y="0"/>
                </a:lnTo>
                <a:lnTo>
                  <a:pt x="0" y="7559331"/>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flipV="1">
            <a:off x="1296949" y="3787912"/>
            <a:ext cx="4328516" cy="10274279"/>
          </a:xfrm>
          <a:custGeom>
            <a:avLst/>
            <a:gdLst/>
            <a:ahLst/>
            <a:cxnLst/>
            <a:rect l="l" t="t" r="r" b="b"/>
            <a:pathLst>
              <a:path w="4328516" h="10274279">
                <a:moveTo>
                  <a:pt x="4328516" y="10274279"/>
                </a:moveTo>
                <a:lnTo>
                  <a:pt x="0" y="10274279"/>
                </a:lnTo>
                <a:lnTo>
                  <a:pt x="0" y="0"/>
                </a:lnTo>
                <a:lnTo>
                  <a:pt x="4328516" y="0"/>
                </a:lnTo>
                <a:lnTo>
                  <a:pt x="4328516" y="10274279"/>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501588" flipH="1">
            <a:off x="1934855" y="-3097849"/>
            <a:ext cx="3052704" cy="5246835"/>
          </a:xfrm>
          <a:custGeom>
            <a:avLst/>
            <a:gdLst/>
            <a:ahLst/>
            <a:cxnLst/>
            <a:rect l="l" t="t" r="r" b="b"/>
            <a:pathLst>
              <a:path w="3052704" h="5246835">
                <a:moveTo>
                  <a:pt x="3052704" y="0"/>
                </a:moveTo>
                <a:lnTo>
                  <a:pt x="0" y="0"/>
                </a:lnTo>
                <a:lnTo>
                  <a:pt x="0" y="5246835"/>
                </a:lnTo>
                <a:lnTo>
                  <a:pt x="3052704" y="5246835"/>
                </a:lnTo>
                <a:lnTo>
                  <a:pt x="305270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839072" flipV="1">
            <a:off x="13537110" y="9349312"/>
            <a:ext cx="4106193" cy="4553238"/>
          </a:xfrm>
          <a:custGeom>
            <a:avLst/>
            <a:gdLst/>
            <a:ahLst/>
            <a:cxnLst/>
            <a:rect l="l" t="t" r="r" b="b"/>
            <a:pathLst>
              <a:path w="4106193" h="4553238">
                <a:moveTo>
                  <a:pt x="0" y="4553238"/>
                </a:moveTo>
                <a:lnTo>
                  <a:pt x="4106193" y="4553238"/>
                </a:lnTo>
                <a:lnTo>
                  <a:pt x="4106193" y="0"/>
                </a:lnTo>
                <a:lnTo>
                  <a:pt x="0" y="0"/>
                </a:lnTo>
                <a:lnTo>
                  <a:pt x="0" y="4553238"/>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5105400" y="621888"/>
            <a:ext cx="7643016" cy="892873"/>
          </a:xfrm>
          <a:prstGeom prst="rect">
            <a:avLst/>
          </a:prstGeom>
        </p:spPr>
        <p:txBody>
          <a:bodyPr lIns="0" tIns="0" rIns="0" bIns="0" rtlCol="0" anchor="t">
            <a:spAutoFit/>
          </a:bodyPr>
          <a:lstStyle/>
          <a:p>
            <a:pPr marL="0" lvl="0" indent="0" algn="ctr">
              <a:lnSpc>
                <a:spcPts val="7352"/>
              </a:lnSpc>
              <a:spcBef>
                <a:spcPct val="0"/>
              </a:spcBef>
            </a:pPr>
            <a:r>
              <a:rPr lang="en-US" sz="6027" b="1" dirty="0">
                <a:solidFill>
                  <a:srgbClr val="1250A1"/>
                </a:solidFill>
                <a:latin typeface="Times New Roman" panose="02020603050405020304" pitchFamily="18" charset="0"/>
                <a:ea typeface="Garet Bold"/>
                <a:cs typeface="Times New Roman" panose="02020603050405020304" pitchFamily="18" charset="0"/>
                <a:sym typeface="Garet Bold"/>
              </a:rPr>
              <a:t>HẠN CHẾ</a:t>
            </a:r>
          </a:p>
        </p:txBody>
      </p:sp>
      <p:sp>
        <p:nvSpPr>
          <p:cNvPr id="7" name="TextBox 7"/>
          <p:cNvSpPr txBox="1"/>
          <p:nvPr/>
        </p:nvSpPr>
        <p:spPr>
          <a:xfrm>
            <a:off x="982444" y="2709734"/>
            <a:ext cx="17305556" cy="4453322"/>
          </a:xfrm>
          <a:prstGeom prst="rect">
            <a:avLst/>
          </a:prstGeom>
        </p:spPr>
        <p:txBody>
          <a:bodyPr lIns="0" tIns="0" rIns="0" bIns="0" rtlCol="0" anchor="t">
            <a:spAutoFit/>
          </a:bodyPr>
          <a:lstStyle/>
          <a:p>
            <a:pPr marL="726481" lvl="1" indent="-363241" algn="l">
              <a:lnSpc>
                <a:spcPts val="5047"/>
              </a:lnSpc>
              <a:buFont typeface="Arial"/>
              <a:buChar char="•"/>
            </a:pPr>
            <a:r>
              <a:rPr lang="en-US" sz="3364" u="none" strike="noStrike">
                <a:solidFill>
                  <a:srgbClr val="000000"/>
                </a:solidFill>
                <a:latin typeface="Public Sans"/>
                <a:ea typeface="Public Sans"/>
                <a:cs typeface="Public Sans"/>
                <a:sym typeface="Public Sans"/>
              </a:rPr>
              <a:t>Chưa phát triển ứng dụng trên nền tảng di động, chủ yếu hỗ trợ trên nền tảng web.</a:t>
            </a:r>
          </a:p>
          <a:p>
            <a:pPr marL="726481" lvl="1" indent="-363241" algn="l">
              <a:lnSpc>
                <a:spcPts val="5047"/>
              </a:lnSpc>
              <a:buFont typeface="Arial"/>
              <a:buChar char="•"/>
            </a:pPr>
            <a:r>
              <a:rPr lang="en-US" sz="3364" u="none" strike="noStrike">
                <a:solidFill>
                  <a:srgbClr val="000000"/>
                </a:solidFill>
                <a:latin typeface="Public Sans"/>
                <a:ea typeface="Public Sans"/>
                <a:cs typeface="Public Sans"/>
                <a:sym typeface="Public Sans"/>
              </a:rPr>
              <a:t>Chatbot AI mới hỗ trợ tư vấn và giải đáp cơ bản, chưa có khả năng cá nhân hóa sâu theo hành vi người dùng.</a:t>
            </a:r>
          </a:p>
          <a:p>
            <a:pPr marL="726481" lvl="1" indent="-363241" algn="l">
              <a:lnSpc>
                <a:spcPts val="5047"/>
              </a:lnSpc>
              <a:buFont typeface="Arial"/>
              <a:buChar char="•"/>
            </a:pPr>
            <a:r>
              <a:rPr lang="en-US" sz="3364" u="none" strike="noStrike">
                <a:solidFill>
                  <a:srgbClr val="000000"/>
                </a:solidFill>
                <a:latin typeface="Public Sans"/>
                <a:ea typeface="Public Sans"/>
                <a:cs typeface="Public Sans"/>
                <a:sym typeface="Public Sans"/>
              </a:rPr>
              <a:t>Hệ thống mới triển khai và kiểm thử trong phạm vi đồ án, chưa đánh giá hiệu năng trên môi trường thực tế với số lượng lớn người dùng đồng thời.</a:t>
            </a:r>
          </a:p>
          <a:p>
            <a:pPr marL="726481" lvl="1" indent="-363241" algn="l">
              <a:lnSpc>
                <a:spcPts val="5047"/>
              </a:lnSpc>
              <a:buFont typeface="Arial"/>
              <a:buChar char="•"/>
            </a:pPr>
            <a:r>
              <a:rPr lang="en-US" sz="3364" u="none" strike="noStrike">
                <a:solidFill>
                  <a:srgbClr val="000000"/>
                </a:solidFill>
                <a:latin typeface="Public Sans"/>
                <a:ea typeface="Public Sans"/>
                <a:cs typeface="Public Sans"/>
                <a:sym typeface="Public Sans"/>
              </a:rPr>
              <a:t>Hiện tại chỉ tích hợp một phương thức thanh toán trực tuyến, chưa hỗ trợ đa dạng cổng thanh toán.</a:t>
            </a:r>
          </a:p>
        </p:txBody>
      </p:sp>
      <p:sp>
        <p:nvSpPr>
          <p:cNvPr id="8" name="TextBox 8"/>
          <p:cNvSpPr txBox="1"/>
          <p:nvPr/>
        </p:nvSpPr>
        <p:spPr>
          <a:xfrm>
            <a:off x="15347738" y="9028870"/>
            <a:ext cx="1156942"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14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64563" y="-798538"/>
            <a:ext cx="9651286" cy="7559332"/>
          </a:xfrm>
          <a:custGeom>
            <a:avLst/>
            <a:gdLst/>
            <a:ahLst/>
            <a:cxnLst/>
            <a:rect l="l" t="t" r="r" b="b"/>
            <a:pathLst>
              <a:path w="9651286" h="7559332">
                <a:moveTo>
                  <a:pt x="0" y="7559331"/>
                </a:moveTo>
                <a:lnTo>
                  <a:pt x="9651286" y="7559331"/>
                </a:lnTo>
                <a:lnTo>
                  <a:pt x="9651286" y="0"/>
                </a:lnTo>
                <a:lnTo>
                  <a:pt x="0" y="0"/>
                </a:lnTo>
                <a:lnTo>
                  <a:pt x="0" y="7559331"/>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flipV="1">
            <a:off x="1296949" y="3787912"/>
            <a:ext cx="4328516" cy="10274279"/>
          </a:xfrm>
          <a:custGeom>
            <a:avLst/>
            <a:gdLst/>
            <a:ahLst/>
            <a:cxnLst/>
            <a:rect l="l" t="t" r="r" b="b"/>
            <a:pathLst>
              <a:path w="4328516" h="10274279">
                <a:moveTo>
                  <a:pt x="4328516" y="10274279"/>
                </a:moveTo>
                <a:lnTo>
                  <a:pt x="0" y="10274279"/>
                </a:lnTo>
                <a:lnTo>
                  <a:pt x="0" y="0"/>
                </a:lnTo>
                <a:lnTo>
                  <a:pt x="4328516" y="0"/>
                </a:lnTo>
                <a:lnTo>
                  <a:pt x="4328516" y="10274279"/>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501588" flipH="1">
            <a:off x="1934855" y="-3097849"/>
            <a:ext cx="3052704" cy="5246835"/>
          </a:xfrm>
          <a:custGeom>
            <a:avLst/>
            <a:gdLst/>
            <a:ahLst/>
            <a:cxnLst/>
            <a:rect l="l" t="t" r="r" b="b"/>
            <a:pathLst>
              <a:path w="3052704" h="5246835">
                <a:moveTo>
                  <a:pt x="3052704" y="0"/>
                </a:moveTo>
                <a:lnTo>
                  <a:pt x="0" y="0"/>
                </a:lnTo>
                <a:lnTo>
                  <a:pt x="0" y="5246835"/>
                </a:lnTo>
                <a:lnTo>
                  <a:pt x="3052704" y="5246835"/>
                </a:lnTo>
                <a:lnTo>
                  <a:pt x="305270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839072" flipV="1">
            <a:off x="13055863" y="8812690"/>
            <a:ext cx="4106193" cy="4553238"/>
          </a:xfrm>
          <a:custGeom>
            <a:avLst/>
            <a:gdLst/>
            <a:ahLst/>
            <a:cxnLst/>
            <a:rect l="l" t="t" r="r" b="b"/>
            <a:pathLst>
              <a:path w="4106193" h="4553238">
                <a:moveTo>
                  <a:pt x="0" y="4553238"/>
                </a:moveTo>
                <a:lnTo>
                  <a:pt x="4106193" y="4553238"/>
                </a:lnTo>
                <a:lnTo>
                  <a:pt x="4106193" y="0"/>
                </a:lnTo>
                <a:lnTo>
                  <a:pt x="0" y="0"/>
                </a:lnTo>
                <a:lnTo>
                  <a:pt x="0" y="4553238"/>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5017169" y="650647"/>
            <a:ext cx="8253663" cy="892873"/>
          </a:xfrm>
          <a:prstGeom prst="rect">
            <a:avLst/>
          </a:prstGeom>
        </p:spPr>
        <p:txBody>
          <a:bodyPr lIns="0" tIns="0" rIns="0" bIns="0" rtlCol="0" anchor="t">
            <a:spAutoFit/>
          </a:bodyPr>
          <a:lstStyle/>
          <a:p>
            <a:pPr marL="0" lvl="0" indent="0" algn="ctr">
              <a:lnSpc>
                <a:spcPts val="7352"/>
              </a:lnSpc>
              <a:spcBef>
                <a:spcPct val="0"/>
              </a:spcBef>
            </a:pPr>
            <a:r>
              <a:rPr lang="en-US" sz="6027" b="1" dirty="0">
                <a:solidFill>
                  <a:srgbClr val="1250A1"/>
                </a:solidFill>
                <a:latin typeface="Times New Roman" panose="02020603050405020304" pitchFamily="18" charset="0"/>
                <a:ea typeface="Garet Bold"/>
                <a:cs typeface="Times New Roman" panose="02020603050405020304" pitchFamily="18" charset="0"/>
                <a:sym typeface="Garet Bold"/>
              </a:rPr>
              <a:t>HƯỚNG PHÁT TRIỂN</a:t>
            </a:r>
          </a:p>
        </p:txBody>
      </p:sp>
      <p:sp>
        <p:nvSpPr>
          <p:cNvPr id="7" name="TextBox 7"/>
          <p:cNvSpPr txBox="1"/>
          <p:nvPr/>
        </p:nvSpPr>
        <p:spPr>
          <a:xfrm>
            <a:off x="982444" y="2709734"/>
            <a:ext cx="17305556" cy="4453322"/>
          </a:xfrm>
          <a:prstGeom prst="rect">
            <a:avLst/>
          </a:prstGeom>
        </p:spPr>
        <p:txBody>
          <a:bodyPr lIns="0" tIns="0" rIns="0" bIns="0" rtlCol="0" anchor="t">
            <a:spAutoFit/>
          </a:bodyPr>
          <a:lstStyle/>
          <a:p>
            <a:pPr marL="726481" lvl="1" indent="-363241" algn="l">
              <a:lnSpc>
                <a:spcPts val="5047"/>
              </a:lnSpc>
              <a:buFont typeface="Arial"/>
              <a:buChar char="•"/>
            </a:pPr>
            <a:r>
              <a:rPr lang="en-US" sz="3364">
                <a:solidFill>
                  <a:srgbClr val="000000"/>
                </a:solidFill>
                <a:latin typeface="Public Sans"/>
                <a:ea typeface="Public Sans"/>
                <a:cs typeface="Public Sans"/>
                <a:sym typeface="Public Sans"/>
              </a:rPr>
              <a:t>P</a:t>
            </a:r>
            <a:r>
              <a:rPr lang="en-US" sz="3364" u="none" strike="noStrike">
                <a:solidFill>
                  <a:srgbClr val="000000"/>
                </a:solidFill>
                <a:latin typeface="Public Sans"/>
                <a:ea typeface="Public Sans"/>
                <a:cs typeface="Public Sans"/>
                <a:sym typeface="Public Sans"/>
              </a:rPr>
              <a:t>hát triển ứng dụng trên nền tảng di động (Android/iOS) nhằm nâng cao trải nghiệm người dùng.</a:t>
            </a:r>
          </a:p>
          <a:p>
            <a:pPr marL="726481" lvl="1" indent="-363241" algn="l">
              <a:lnSpc>
                <a:spcPts val="5047"/>
              </a:lnSpc>
              <a:buFont typeface="Arial"/>
              <a:buChar char="•"/>
            </a:pPr>
            <a:r>
              <a:rPr lang="en-US" sz="3364" u="none" strike="noStrike">
                <a:solidFill>
                  <a:srgbClr val="000000"/>
                </a:solidFill>
                <a:latin typeface="Public Sans"/>
                <a:ea typeface="Public Sans"/>
                <a:cs typeface="Public Sans"/>
                <a:sym typeface="Public Sans"/>
              </a:rPr>
              <a:t>Nâng cấp Chatbot AI theo hướng cá nhân hóa, hỗ trợ gợi ý sân, khung giờ và dịch vụ phù hợp với từng người dùng.</a:t>
            </a:r>
          </a:p>
          <a:p>
            <a:pPr marL="726481" lvl="1" indent="-363241" algn="l">
              <a:lnSpc>
                <a:spcPts val="5047"/>
              </a:lnSpc>
              <a:buFont typeface="Arial"/>
              <a:buChar char="•"/>
            </a:pPr>
            <a:r>
              <a:rPr lang="en-US" sz="3364" u="none" strike="noStrike">
                <a:solidFill>
                  <a:srgbClr val="000000"/>
                </a:solidFill>
                <a:latin typeface="Public Sans"/>
                <a:ea typeface="Public Sans"/>
                <a:cs typeface="Public Sans"/>
                <a:sym typeface="Public Sans"/>
              </a:rPr>
              <a:t>Tích hợp thêm nhiều phương thức thanh toán trực tuyến để tăng tính tiện lợi.</a:t>
            </a:r>
          </a:p>
          <a:p>
            <a:pPr marL="726481" lvl="1" indent="-363241" algn="l">
              <a:lnSpc>
                <a:spcPts val="5047"/>
              </a:lnSpc>
              <a:buFont typeface="Arial"/>
              <a:buChar char="•"/>
            </a:pPr>
            <a:r>
              <a:rPr lang="en-US" sz="3364" u="none" strike="noStrike">
                <a:solidFill>
                  <a:srgbClr val="000000"/>
                </a:solidFill>
                <a:latin typeface="Public Sans"/>
                <a:ea typeface="Public Sans"/>
                <a:cs typeface="Public Sans"/>
                <a:sym typeface="Public Sans"/>
              </a:rPr>
              <a:t>Mở rộng hệ thống cho nhiều trung tâm thể thao, nhiều môn thể thao và tối ưu khả năng xử lý đồng thời trên quy mô lớn.</a:t>
            </a:r>
          </a:p>
        </p:txBody>
      </p:sp>
      <p:sp>
        <p:nvSpPr>
          <p:cNvPr id="8" name="TextBox 8"/>
          <p:cNvSpPr txBox="1"/>
          <p:nvPr/>
        </p:nvSpPr>
        <p:spPr>
          <a:xfrm>
            <a:off x="16102358" y="8715375"/>
            <a:ext cx="1156942" cy="1057275"/>
          </a:xfrm>
          <a:prstGeom prst="rect">
            <a:avLst/>
          </a:prstGeom>
        </p:spPr>
        <p:txBody>
          <a:bodyPr lIns="0" tIns="0" rIns="0" bIns="0" rtlCol="0" anchor="t">
            <a:spAutoFit/>
          </a:bodyPr>
          <a:lstStyle/>
          <a:p>
            <a:pPr marL="0" lvl="0" indent="0" algn="ctr">
              <a:lnSpc>
                <a:spcPts val="8306"/>
              </a:lnSpc>
              <a:spcBef>
                <a:spcPct val="0"/>
              </a:spcBef>
            </a:pPr>
            <a:r>
              <a:rPr lang="en-US" sz="6808" b="1">
                <a:solidFill>
                  <a:srgbClr val="1250A1"/>
                </a:solidFill>
                <a:latin typeface="Garet Bold"/>
                <a:ea typeface="Garet Bold"/>
                <a:cs typeface="Garet Bold"/>
                <a:sym typeface="Garet Bold"/>
              </a:rPr>
              <a:t>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0731691" y="-971203"/>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flipV="1">
            <a:off x="2119488" y="4121161"/>
            <a:ext cx="4328516" cy="10274279"/>
          </a:xfrm>
          <a:custGeom>
            <a:avLst/>
            <a:gdLst/>
            <a:ahLst/>
            <a:cxnLst/>
            <a:rect l="l" t="t" r="r" b="b"/>
            <a:pathLst>
              <a:path w="4328516" h="10274279">
                <a:moveTo>
                  <a:pt x="4328516" y="10274278"/>
                </a:moveTo>
                <a:lnTo>
                  <a:pt x="0" y="10274278"/>
                </a:lnTo>
                <a:lnTo>
                  <a:pt x="0" y="0"/>
                </a:lnTo>
                <a:lnTo>
                  <a:pt x="4328516" y="0"/>
                </a:lnTo>
                <a:lnTo>
                  <a:pt x="4328516" y="1027427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5501588" flipH="1">
            <a:off x="345223" y="-1418154"/>
            <a:ext cx="3052704" cy="5246835"/>
          </a:xfrm>
          <a:custGeom>
            <a:avLst/>
            <a:gdLst/>
            <a:ahLst/>
            <a:cxnLst/>
            <a:rect l="l" t="t" r="r" b="b"/>
            <a:pathLst>
              <a:path w="3052704" h="5246835">
                <a:moveTo>
                  <a:pt x="3052704" y="0"/>
                </a:moveTo>
                <a:lnTo>
                  <a:pt x="0" y="0"/>
                </a:lnTo>
                <a:lnTo>
                  <a:pt x="0" y="5246836"/>
                </a:lnTo>
                <a:lnTo>
                  <a:pt x="3052704" y="5246836"/>
                </a:lnTo>
                <a:lnTo>
                  <a:pt x="3052704"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839072" flipV="1">
            <a:off x="13673517" y="8435330"/>
            <a:ext cx="4106193" cy="4553238"/>
          </a:xfrm>
          <a:custGeom>
            <a:avLst/>
            <a:gdLst/>
            <a:ahLst/>
            <a:cxnLst/>
            <a:rect l="l" t="t" r="r" b="b"/>
            <a:pathLst>
              <a:path w="4106193" h="4553238">
                <a:moveTo>
                  <a:pt x="0" y="4553238"/>
                </a:moveTo>
                <a:lnTo>
                  <a:pt x="4106193" y="4553238"/>
                </a:lnTo>
                <a:lnTo>
                  <a:pt x="4106193" y="0"/>
                </a:lnTo>
                <a:lnTo>
                  <a:pt x="0" y="0"/>
                </a:lnTo>
                <a:lnTo>
                  <a:pt x="0" y="4553238"/>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5137139" y="607006"/>
            <a:ext cx="7643016" cy="833863"/>
          </a:xfrm>
          <a:prstGeom prst="rect">
            <a:avLst/>
          </a:prstGeom>
        </p:spPr>
        <p:txBody>
          <a:bodyPr lIns="0" tIns="0" rIns="0" bIns="0" rtlCol="0" anchor="t">
            <a:spAutoFit/>
          </a:bodyPr>
          <a:lstStyle/>
          <a:p>
            <a:pPr marL="0" lvl="0" indent="0" algn="ctr">
              <a:lnSpc>
                <a:spcPts val="6658"/>
              </a:lnSpc>
              <a:spcBef>
                <a:spcPct val="0"/>
              </a:spcBef>
            </a:pPr>
            <a:r>
              <a:rPr lang="en-US" sz="5457" b="1" dirty="0">
                <a:solidFill>
                  <a:srgbClr val="1250A1"/>
                </a:solidFill>
                <a:latin typeface="Times New Roman" panose="02020603050405020304" pitchFamily="18" charset="0"/>
                <a:ea typeface="Garet Bold"/>
                <a:cs typeface="Times New Roman" panose="02020603050405020304" pitchFamily="18" charset="0"/>
                <a:sym typeface="Garet Bold"/>
              </a:rPr>
              <a:t>LỜI CẢM ƠN</a:t>
            </a:r>
          </a:p>
        </p:txBody>
      </p:sp>
      <p:sp>
        <p:nvSpPr>
          <p:cNvPr id="7" name="TextBox 7"/>
          <p:cNvSpPr txBox="1"/>
          <p:nvPr/>
        </p:nvSpPr>
        <p:spPr>
          <a:xfrm>
            <a:off x="1335511" y="2325006"/>
            <a:ext cx="16170749" cy="6286550"/>
          </a:xfrm>
          <a:prstGeom prst="rect">
            <a:avLst/>
          </a:prstGeom>
        </p:spPr>
        <p:txBody>
          <a:bodyPr lIns="0" tIns="0" rIns="0" bIns="0" rtlCol="0" anchor="t">
            <a:spAutoFit/>
          </a:bodyPr>
          <a:lstStyle/>
          <a:p>
            <a:pPr algn="just">
              <a:lnSpc>
                <a:spcPts val="4120"/>
              </a:lnSpc>
              <a:spcBef>
                <a:spcPct val="0"/>
              </a:spcBef>
            </a:pPr>
            <a:r>
              <a:rPr lang="en-US" sz="3377">
                <a:solidFill>
                  <a:srgbClr val="000000"/>
                </a:solidFill>
                <a:latin typeface="Public Sans"/>
                <a:ea typeface="Public Sans"/>
                <a:cs typeface="Public Sans"/>
                <a:sym typeface="Public Sans"/>
              </a:rPr>
              <a:t>Em xin chân thành cảm ơn Ban Giám đốc và quý thầy cô Trường Kỹ thuật và Công nghệ, Đại học Trà Vinh đã trang bị cho em những kiến thức quý báu trong suốt quá trình học tập.</a:t>
            </a:r>
          </a:p>
          <a:p>
            <a:pPr algn="just">
              <a:lnSpc>
                <a:spcPts val="4120"/>
              </a:lnSpc>
              <a:spcBef>
                <a:spcPct val="0"/>
              </a:spcBef>
            </a:pPr>
            <a:endParaRPr lang="en-US" sz="3377">
              <a:solidFill>
                <a:srgbClr val="000000"/>
              </a:solidFill>
              <a:latin typeface="Public Sans"/>
              <a:ea typeface="Public Sans"/>
              <a:cs typeface="Public Sans"/>
              <a:sym typeface="Public Sans"/>
            </a:endParaRPr>
          </a:p>
          <a:p>
            <a:pPr algn="just">
              <a:lnSpc>
                <a:spcPts val="4120"/>
              </a:lnSpc>
              <a:spcBef>
                <a:spcPct val="0"/>
              </a:spcBef>
            </a:pPr>
            <a:r>
              <a:rPr lang="en-US" sz="3377">
                <a:solidFill>
                  <a:srgbClr val="000000"/>
                </a:solidFill>
                <a:latin typeface="Public Sans"/>
                <a:ea typeface="Public Sans"/>
                <a:cs typeface="Public Sans"/>
                <a:sym typeface="Public Sans"/>
              </a:rPr>
              <a:t>Đặc biệt, em xin gửi lời cảm ơn sâu sắc đến cô Phạm Thị Trúc Mai đã tận tình hướng dẫn, góp ý và hỗ trợ em hoàn thành đề tài này.</a:t>
            </a:r>
          </a:p>
          <a:p>
            <a:pPr algn="just">
              <a:lnSpc>
                <a:spcPts val="4120"/>
              </a:lnSpc>
              <a:spcBef>
                <a:spcPct val="0"/>
              </a:spcBef>
            </a:pPr>
            <a:endParaRPr lang="en-US" sz="3377">
              <a:solidFill>
                <a:srgbClr val="000000"/>
              </a:solidFill>
              <a:latin typeface="Public Sans"/>
              <a:ea typeface="Public Sans"/>
              <a:cs typeface="Public Sans"/>
              <a:sym typeface="Public Sans"/>
            </a:endParaRPr>
          </a:p>
          <a:p>
            <a:pPr algn="just">
              <a:lnSpc>
                <a:spcPts val="4120"/>
              </a:lnSpc>
              <a:spcBef>
                <a:spcPct val="0"/>
              </a:spcBef>
            </a:pPr>
            <a:r>
              <a:rPr lang="en-US" sz="3377">
                <a:solidFill>
                  <a:srgbClr val="000000"/>
                </a:solidFill>
                <a:latin typeface="Public Sans"/>
                <a:ea typeface="Public Sans"/>
                <a:cs typeface="Public Sans"/>
                <a:sym typeface="Public Sans"/>
              </a:rPr>
              <a:t>Em cũng xin cảm ơn gia đình, bạn bè đã luôn động viên và đồng hành cùng em trong suốt quá trình thực hiện đồ án.</a:t>
            </a:r>
          </a:p>
          <a:p>
            <a:pPr algn="just">
              <a:lnSpc>
                <a:spcPts val="4120"/>
              </a:lnSpc>
              <a:spcBef>
                <a:spcPct val="0"/>
              </a:spcBef>
            </a:pPr>
            <a:endParaRPr lang="en-US" sz="3377">
              <a:solidFill>
                <a:srgbClr val="000000"/>
              </a:solidFill>
              <a:latin typeface="Public Sans"/>
              <a:ea typeface="Public Sans"/>
              <a:cs typeface="Public Sans"/>
              <a:sym typeface="Public Sans"/>
            </a:endParaRPr>
          </a:p>
          <a:p>
            <a:pPr algn="just">
              <a:lnSpc>
                <a:spcPts val="4120"/>
              </a:lnSpc>
              <a:spcBef>
                <a:spcPct val="0"/>
              </a:spcBef>
            </a:pPr>
            <a:r>
              <a:rPr lang="en-US" sz="3377">
                <a:solidFill>
                  <a:srgbClr val="000000"/>
                </a:solidFill>
                <a:latin typeface="Public Sans"/>
                <a:ea typeface="Public Sans"/>
                <a:cs typeface="Public Sans"/>
                <a:sym typeface="Public Sans"/>
              </a:rPr>
              <a:t>Cuối cùng, em xin chân thành cảm ơn Hội đồng lắng nghe phần trình bày của em và kính mong nhận được những ý kiến đóng góp quý báu.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V="1">
            <a:off x="-1675314" y="1045977"/>
            <a:ext cx="9651286" cy="7559332"/>
          </a:xfrm>
          <a:custGeom>
            <a:avLst/>
            <a:gdLst/>
            <a:ahLst/>
            <a:cxnLst/>
            <a:rect l="l" t="t" r="r" b="b"/>
            <a:pathLst>
              <a:path w="9651286" h="7559332">
                <a:moveTo>
                  <a:pt x="0" y="7559332"/>
                </a:moveTo>
                <a:lnTo>
                  <a:pt x="9651286" y="7559332"/>
                </a:lnTo>
                <a:lnTo>
                  <a:pt x="9651286" y="0"/>
                </a:lnTo>
                <a:lnTo>
                  <a:pt x="0" y="0"/>
                </a:lnTo>
                <a:lnTo>
                  <a:pt x="0" y="755933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rot="-5400000" flipH="1">
            <a:off x="9682691" y="2484213"/>
            <a:ext cx="9651286" cy="7559332"/>
          </a:xfrm>
          <a:custGeom>
            <a:avLst/>
            <a:gdLst/>
            <a:ahLst/>
            <a:cxnLst/>
            <a:rect l="l" t="t" r="r" b="b"/>
            <a:pathLst>
              <a:path w="9651286" h="7559332">
                <a:moveTo>
                  <a:pt x="9651286" y="0"/>
                </a:moveTo>
                <a:lnTo>
                  <a:pt x="0" y="0"/>
                </a:lnTo>
                <a:lnTo>
                  <a:pt x="0" y="7559332"/>
                </a:lnTo>
                <a:lnTo>
                  <a:pt x="9651286" y="7559332"/>
                </a:lnTo>
                <a:lnTo>
                  <a:pt x="965128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10321024" flipV="1">
            <a:off x="13100272" y="-2605429"/>
            <a:ext cx="4106193" cy="4553238"/>
          </a:xfrm>
          <a:custGeom>
            <a:avLst/>
            <a:gdLst/>
            <a:ahLst/>
            <a:cxnLst/>
            <a:rect l="l" t="t" r="r" b="b"/>
            <a:pathLst>
              <a:path w="4106193" h="4553238">
                <a:moveTo>
                  <a:pt x="0" y="4553238"/>
                </a:moveTo>
                <a:lnTo>
                  <a:pt x="4106193" y="4553238"/>
                </a:lnTo>
                <a:lnTo>
                  <a:pt x="4106193" y="0"/>
                </a:lnTo>
                <a:lnTo>
                  <a:pt x="0" y="0"/>
                </a:lnTo>
                <a:lnTo>
                  <a:pt x="0" y="455323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5501588">
            <a:off x="1865236" y="7191179"/>
            <a:ext cx="3052704" cy="5246835"/>
          </a:xfrm>
          <a:custGeom>
            <a:avLst/>
            <a:gdLst/>
            <a:ahLst/>
            <a:cxnLst/>
            <a:rect l="l" t="t" r="r" b="b"/>
            <a:pathLst>
              <a:path w="3052704" h="5246835">
                <a:moveTo>
                  <a:pt x="0" y="0"/>
                </a:moveTo>
                <a:lnTo>
                  <a:pt x="3052705" y="0"/>
                </a:lnTo>
                <a:lnTo>
                  <a:pt x="3052705" y="5246835"/>
                </a:lnTo>
                <a:lnTo>
                  <a:pt x="0" y="52468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2616689" y="2376994"/>
            <a:ext cx="13571323" cy="5466227"/>
          </a:xfrm>
          <a:prstGeom prst="rect">
            <a:avLst/>
          </a:prstGeom>
        </p:spPr>
        <p:txBody>
          <a:bodyPr lIns="0" tIns="0" rIns="0" bIns="0" rtlCol="0" anchor="t">
            <a:spAutoFit/>
          </a:bodyPr>
          <a:lstStyle/>
          <a:p>
            <a:pPr algn="ctr">
              <a:lnSpc>
                <a:spcPts val="10919"/>
              </a:lnSpc>
            </a:pPr>
            <a:r>
              <a:rPr lang="en-US" sz="7279" b="1" i="1">
                <a:solidFill>
                  <a:srgbClr val="1250A1"/>
                </a:solidFill>
                <a:latin typeface="Public Sans Bold Italics"/>
                <a:ea typeface="Public Sans Bold Italics"/>
                <a:cs typeface="Public Sans Bold Italics"/>
                <a:sym typeface="Public Sans Bold Italics"/>
              </a:rPr>
              <a:t>CẢM ƠN QUÝ THẦY CÔ, </a:t>
            </a:r>
          </a:p>
          <a:p>
            <a:pPr algn="ctr">
              <a:lnSpc>
                <a:spcPts val="10919"/>
              </a:lnSpc>
            </a:pPr>
            <a:r>
              <a:rPr lang="en-US" sz="7279" b="1" i="1">
                <a:solidFill>
                  <a:srgbClr val="1250A1"/>
                </a:solidFill>
                <a:latin typeface="Public Sans Bold Italics"/>
                <a:ea typeface="Public Sans Bold Italics"/>
                <a:cs typeface="Public Sans Bold Italics"/>
                <a:sym typeface="Public Sans Bold Italics"/>
              </a:rPr>
              <a:t>QUÝ HỘI ĐỒNG ĐÃ LẮNG NGHE BÀI THUYẾT TRÌNH</a:t>
            </a:r>
          </a:p>
          <a:p>
            <a:pPr marL="0" lvl="0" indent="0" algn="ctr">
              <a:lnSpc>
                <a:spcPts val="10919"/>
              </a:lnSpc>
            </a:pPr>
            <a:endParaRPr lang="en-US" sz="7279" b="1" i="1">
              <a:solidFill>
                <a:srgbClr val="1250A1"/>
              </a:solidFill>
              <a:latin typeface="Public Sans Bold Italics"/>
              <a:ea typeface="Public Sans Bold Italics"/>
              <a:cs typeface="Public Sans Bold Italics"/>
              <a:sym typeface="Public Sans Bold Italics"/>
            </a:endParaRPr>
          </a:p>
        </p:txBody>
      </p:sp>
      <p:sp>
        <p:nvSpPr>
          <p:cNvPr id="7" name="TextBox 7"/>
          <p:cNvSpPr txBox="1"/>
          <p:nvPr/>
        </p:nvSpPr>
        <p:spPr>
          <a:xfrm>
            <a:off x="5577488" y="8494780"/>
            <a:ext cx="7133024" cy="1156506"/>
          </a:xfrm>
          <a:prstGeom prst="rect">
            <a:avLst/>
          </a:prstGeom>
        </p:spPr>
        <p:txBody>
          <a:bodyPr lIns="0" tIns="0" rIns="0" bIns="0" rtlCol="0" anchor="t">
            <a:spAutoFit/>
          </a:bodyPr>
          <a:lstStyle/>
          <a:p>
            <a:pPr marL="0" lvl="0" indent="0" algn="ctr">
              <a:lnSpc>
                <a:spcPts val="9593"/>
              </a:lnSpc>
            </a:pPr>
            <a:r>
              <a:rPr lang="en-US" sz="6395" i="1">
                <a:solidFill>
                  <a:srgbClr val="1250A1"/>
                </a:solidFill>
                <a:latin typeface="Public Sans Italics"/>
                <a:ea typeface="Public Sans Italics"/>
                <a:cs typeface="Public Sans Italics"/>
                <a:sym typeface="Public Sans Italics"/>
              </a:rPr>
              <a:t>Em xin 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572</TotalTime>
  <Words>999</Words>
  <Application>Microsoft Office PowerPoint</Application>
  <PresentationFormat>Custom</PresentationFormat>
  <Paragraphs>111</Paragraphs>
  <Slides>19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Public Sans Italics</vt:lpstr>
      <vt:lpstr>Calibri</vt:lpstr>
      <vt:lpstr>Anton</vt:lpstr>
      <vt:lpstr>Times New Roman</vt:lpstr>
      <vt:lpstr>Public Sans Bold Italics</vt:lpstr>
      <vt:lpstr>Garet Bold</vt:lpstr>
      <vt:lpstr>Public Sans</vt:lpstr>
      <vt:lpstr>Saira</vt:lpstr>
      <vt:lpstr>Arial</vt:lpstr>
      <vt:lpstr>Saira Bold</vt:lpstr>
      <vt:lpstr>Public Sans Medium</vt:lpstr>
      <vt:lpstr>Public Sans Bold</vt:lpstr>
      <vt:lpstr>Raleway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về ý tưởng Màu đen trắng đỏ và vàng Phong cách Thiết kế cơ bản</dc:title>
  <dc:creator>Nguyễn Tấn Lợi</dc:creator>
  <cp:lastModifiedBy>Nguyễn Tấn Lợi</cp:lastModifiedBy>
  <cp:revision>5</cp:revision>
  <dcterms:created xsi:type="dcterms:W3CDTF">2006-08-16T00:00:00Z</dcterms:created>
  <dcterms:modified xsi:type="dcterms:W3CDTF">2026-07-07T03:28:34Z</dcterms:modified>
  <dc:identifier>DAHOP0vaOVg</dc:identifier>
</cp:coreProperties>
</file>